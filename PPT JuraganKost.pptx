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N- きんいろサンセリフ" charset="1" panose="02000600000000000000"/>
      <p:regular r:id="rId18"/>
    </p:embeddedFont>
    <p:embeddedFont>
      <p:font typeface="Montserrat"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5.jpeg" Type="http://schemas.openxmlformats.org/officeDocument/2006/relationships/image"/><Relationship Id="rId8" Target="../media/image16.pn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sv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7.png" Type="http://schemas.openxmlformats.org/officeDocument/2006/relationships/image"/><Relationship Id="rId6" Target="../media/image15.jpe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svg" Type="http://schemas.openxmlformats.org/officeDocument/2006/relationships/image"/><Relationship Id="rId2" Target="../media/image1.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8.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2" Target="../media/image1.png" Type="http://schemas.openxmlformats.org/officeDocument/2006/relationships/image"/><Relationship Id="rId3" Target="../media/image18.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9.png" Type="http://schemas.openxmlformats.org/officeDocument/2006/relationships/image"/><Relationship Id="rId9" Target="../media/image2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1.png" Type="http://schemas.openxmlformats.org/officeDocument/2006/relationships/image"/><Relationship Id="rId3" Target="../media/image18.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24.pn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2.png" Type="http://schemas.openxmlformats.org/officeDocument/2006/relationships/image"/><Relationship Id="rId6" Target="../media/image12.png" Type="http://schemas.openxmlformats.org/officeDocument/2006/relationships/image"/><Relationship Id="rId7" Target="../media/image23.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5.pn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8476148">
            <a:off x="-3620038" y="4951287"/>
            <a:ext cx="11022828" cy="11185527"/>
          </a:xfrm>
          <a:custGeom>
            <a:avLst/>
            <a:gdLst/>
            <a:ahLst/>
            <a:cxnLst/>
            <a:rect r="r" b="b" t="t" l="l"/>
            <a:pathLst>
              <a:path h="11185527" w="11022828">
                <a:moveTo>
                  <a:pt x="0" y="0"/>
                </a:moveTo>
                <a:lnTo>
                  <a:pt x="11022828" y="0"/>
                </a:lnTo>
                <a:lnTo>
                  <a:pt x="11022828" y="11185527"/>
                </a:lnTo>
                <a:lnTo>
                  <a:pt x="0" y="11185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93558" y="-1305179"/>
            <a:ext cx="7709906" cy="4038063"/>
          </a:xfrm>
          <a:custGeom>
            <a:avLst/>
            <a:gdLst/>
            <a:ahLst/>
            <a:cxnLst/>
            <a:rect r="r" b="b" t="t" l="l"/>
            <a:pathLst>
              <a:path h="4038063" w="7709906">
                <a:moveTo>
                  <a:pt x="0" y="0"/>
                </a:moveTo>
                <a:lnTo>
                  <a:pt x="7709906" y="0"/>
                </a:lnTo>
                <a:lnTo>
                  <a:pt x="7709906" y="4038064"/>
                </a:lnTo>
                <a:lnTo>
                  <a:pt x="0" y="40380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6815181">
            <a:off x="-7635836" y="-8188163"/>
            <a:ext cx="11022828" cy="11185527"/>
          </a:xfrm>
          <a:custGeom>
            <a:avLst/>
            <a:gdLst/>
            <a:ahLst/>
            <a:cxnLst/>
            <a:rect r="r" b="b" t="t" l="l"/>
            <a:pathLst>
              <a:path h="11185527" w="11022828">
                <a:moveTo>
                  <a:pt x="0" y="0"/>
                </a:moveTo>
                <a:lnTo>
                  <a:pt x="11022828" y="0"/>
                </a:lnTo>
                <a:lnTo>
                  <a:pt x="11022828" y="11185527"/>
                </a:lnTo>
                <a:lnTo>
                  <a:pt x="0" y="11185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4259391" y="8248650"/>
            <a:ext cx="6404497" cy="3362361"/>
          </a:xfrm>
          <a:custGeom>
            <a:avLst/>
            <a:gdLst/>
            <a:ahLst/>
            <a:cxnLst/>
            <a:rect r="r" b="b" t="t" l="l"/>
            <a:pathLst>
              <a:path h="3362361" w="6404497">
                <a:moveTo>
                  <a:pt x="0" y="0"/>
                </a:moveTo>
                <a:lnTo>
                  <a:pt x="6404498" y="0"/>
                </a:lnTo>
                <a:lnTo>
                  <a:pt x="6404498" y="3362361"/>
                </a:lnTo>
                <a:lnTo>
                  <a:pt x="0" y="33623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2334834">
            <a:off x="646658" y="572403"/>
            <a:ext cx="1646258" cy="1583401"/>
          </a:xfrm>
          <a:custGeom>
            <a:avLst/>
            <a:gdLst/>
            <a:ahLst/>
            <a:cxnLst/>
            <a:rect r="r" b="b" t="t" l="l"/>
            <a:pathLst>
              <a:path h="1583401" w="1646258">
                <a:moveTo>
                  <a:pt x="0" y="0"/>
                </a:moveTo>
                <a:lnTo>
                  <a:pt x="1646259" y="0"/>
                </a:lnTo>
                <a:lnTo>
                  <a:pt x="1646259" y="1583401"/>
                </a:lnTo>
                <a:lnTo>
                  <a:pt x="0" y="1583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7461640" y="1557283"/>
            <a:ext cx="10554259" cy="4238625"/>
          </a:xfrm>
          <a:prstGeom prst="rect">
            <a:avLst/>
          </a:prstGeom>
        </p:spPr>
        <p:txBody>
          <a:bodyPr anchor="t" rtlCol="false" tIns="0" lIns="0" bIns="0" rIns="0">
            <a:spAutoFit/>
          </a:bodyPr>
          <a:lstStyle/>
          <a:p>
            <a:pPr algn="l">
              <a:lnSpc>
                <a:spcPts val="10800"/>
              </a:lnSpc>
            </a:pPr>
            <a:r>
              <a:rPr lang="en-US" sz="12000" spc="240">
                <a:solidFill>
                  <a:srgbClr val="004AAD"/>
                </a:solidFill>
                <a:latin typeface="GN- きんいろサンセリフ"/>
                <a:ea typeface="GN- きんいろサンセリフ"/>
                <a:cs typeface="GN- きんいろサンセリフ"/>
                <a:sym typeface="GN- きんいろサンセリフ"/>
              </a:rPr>
              <a:t>HAI..! AKU MUHAMMAD HAFIZ AZIZI</a:t>
            </a:r>
          </a:p>
        </p:txBody>
      </p:sp>
      <p:sp>
        <p:nvSpPr>
          <p:cNvPr name="Freeform 9" id="9"/>
          <p:cNvSpPr/>
          <p:nvPr/>
        </p:nvSpPr>
        <p:spPr>
          <a:xfrm flipH="false" flipV="false" rot="-5893395">
            <a:off x="16321153" y="5470113"/>
            <a:ext cx="5439025" cy="5519305"/>
          </a:xfrm>
          <a:custGeom>
            <a:avLst/>
            <a:gdLst/>
            <a:ahLst/>
            <a:cxnLst/>
            <a:rect r="r" b="b" t="t" l="l"/>
            <a:pathLst>
              <a:path h="5519305" w="5439025">
                <a:moveTo>
                  <a:pt x="0" y="0"/>
                </a:moveTo>
                <a:lnTo>
                  <a:pt x="5439024" y="0"/>
                </a:lnTo>
                <a:lnTo>
                  <a:pt x="5439024" y="5519305"/>
                </a:lnTo>
                <a:lnTo>
                  <a:pt x="0" y="55193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6315782">
            <a:off x="15708454" y="7002135"/>
            <a:ext cx="1646258" cy="1583401"/>
          </a:xfrm>
          <a:custGeom>
            <a:avLst/>
            <a:gdLst/>
            <a:ahLst/>
            <a:cxnLst/>
            <a:rect r="r" b="b" t="t" l="l"/>
            <a:pathLst>
              <a:path h="1583401" w="1646258">
                <a:moveTo>
                  <a:pt x="0" y="0"/>
                </a:moveTo>
                <a:lnTo>
                  <a:pt x="1646259" y="0"/>
                </a:lnTo>
                <a:lnTo>
                  <a:pt x="1646259" y="1583402"/>
                </a:lnTo>
                <a:lnTo>
                  <a:pt x="0" y="15834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false" rot="0">
            <a:off x="361648" y="2732885"/>
            <a:ext cx="5792106" cy="8072622"/>
          </a:xfrm>
          <a:custGeom>
            <a:avLst/>
            <a:gdLst/>
            <a:ahLst/>
            <a:cxnLst/>
            <a:rect r="r" b="b" t="t" l="l"/>
            <a:pathLst>
              <a:path h="8072622" w="5792106">
                <a:moveTo>
                  <a:pt x="5792106" y="0"/>
                </a:moveTo>
                <a:lnTo>
                  <a:pt x="0" y="0"/>
                </a:lnTo>
                <a:lnTo>
                  <a:pt x="0" y="8072622"/>
                </a:lnTo>
                <a:lnTo>
                  <a:pt x="5792106" y="8072622"/>
                </a:lnTo>
                <a:lnTo>
                  <a:pt x="5792106" y="0"/>
                </a:lnTo>
                <a:close/>
              </a:path>
            </a:pathLst>
          </a:custGeom>
          <a:blipFill>
            <a:blip r:embed="rId11"/>
            <a:stretch>
              <a:fillRect l="0" t="0" r="0" b="0"/>
            </a:stretch>
          </a:blipFill>
        </p:spPr>
      </p:sp>
      <p:sp>
        <p:nvSpPr>
          <p:cNvPr name="TextBox 12" id="12"/>
          <p:cNvSpPr txBox="true"/>
          <p:nvPr/>
        </p:nvSpPr>
        <p:spPr>
          <a:xfrm rot="0">
            <a:off x="7461640" y="5832582"/>
            <a:ext cx="7301087" cy="563401"/>
          </a:xfrm>
          <a:prstGeom prst="rect">
            <a:avLst/>
          </a:prstGeom>
        </p:spPr>
        <p:txBody>
          <a:bodyPr anchor="t" rtlCol="false" tIns="0" lIns="0" bIns="0" rIns="0">
            <a:spAutoFit/>
          </a:bodyPr>
          <a:lstStyle/>
          <a:p>
            <a:pPr algn="l">
              <a:lnSpc>
                <a:spcPts val="4506"/>
              </a:lnSpc>
            </a:pPr>
            <a:r>
              <a:rPr lang="en-US" sz="3755">
                <a:solidFill>
                  <a:srgbClr val="090001"/>
                </a:solidFill>
                <a:latin typeface="Montserrat"/>
                <a:ea typeface="Montserrat"/>
                <a:cs typeface="Montserrat"/>
                <a:sym typeface="Montserrat"/>
              </a:rPr>
              <a:t>Yuk lihat presentasi ku...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0">
            <a:off x="-2640201" y="-669794"/>
            <a:ext cx="6485897" cy="3396988"/>
          </a:xfrm>
          <a:custGeom>
            <a:avLst/>
            <a:gdLst/>
            <a:ahLst/>
            <a:cxnLst/>
            <a:rect r="r" b="b" t="t" l="l"/>
            <a:pathLst>
              <a:path h="3396988" w="6485897">
                <a:moveTo>
                  <a:pt x="0" y="0"/>
                </a:moveTo>
                <a:lnTo>
                  <a:pt x="6485896" y="0"/>
                </a:lnTo>
                <a:lnTo>
                  <a:pt x="6485896" y="3396988"/>
                </a:lnTo>
                <a:lnTo>
                  <a:pt x="0" y="33969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a:grpSpLocks noChangeAspect="true"/>
          </p:cNvGrpSpPr>
          <p:nvPr/>
        </p:nvGrpSpPr>
        <p:grpSpPr>
          <a:xfrm rot="-381511">
            <a:off x="9786725" y="-118514"/>
            <a:ext cx="9741535" cy="7176264"/>
            <a:chOff x="0" y="0"/>
            <a:chExt cx="19050000" cy="14033500"/>
          </a:xfrm>
        </p:grpSpPr>
        <p:sp>
          <p:nvSpPr>
            <p:cNvPr name="Freeform 5" id="5"/>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5"/>
              <a:stretch>
                <a:fillRect l="-17887" t="0" r="-17887" b="0"/>
              </a:stretch>
            </a:blipFill>
          </p:spPr>
        </p:sp>
        <p:sp>
          <p:nvSpPr>
            <p:cNvPr name="Freeform 6" id="6"/>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6"/>
              <a:stretch>
                <a:fillRect l="0" t="0" r="0" b="-281"/>
              </a:stretch>
            </a:blipFill>
          </p:spPr>
        </p:sp>
      </p:grpSp>
      <p:grpSp>
        <p:nvGrpSpPr>
          <p:cNvPr name="Group 7" id="7"/>
          <p:cNvGrpSpPr>
            <a:grpSpLocks noChangeAspect="true"/>
          </p:cNvGrpSpPr>
          <p:nvPr/>
        </p:nvGrpSpPr>
        <p:grpSpPr>
          <a:xfrm rot="455362">
            <a:off x="9171028" y="3951223"/>
            <a:ext cx="7098668" cy="5229352"/>
            <a:chOff x="0" y="0"/>
            <a:chExt cx="19050000" cy="14033500"/>
          </a:xfrm>
        </p:grpSpPr>
        <p:sp>
          <p:nvSpPr>
            <p:cNvPr name="Freeform 8" id="8"/>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5"/>
              <a:stretch>
                <a:fillRect l="-17887" t="0" r="-17887" b="0"/>
              </a:stretch>
            </a:blipFill>
          </p:spPr>
        </p:sp>
        <p:sp>
          <p:nvSpPr>
            <p:cNvPr name="Freeform 9" id="9"/>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6"/>
              <a:stretch>
                <a:fillRect l="0" t="0" r="0" b="-281"/>
              </a:stretch>
            </a:blipFill>
          </p:spPr>
        </p:sp>
      </p:grpSp>
      <p:sp>
        <p:nvSpPr>
          <p:cNvPr name="Freeform 10" id="10"/>
          <p:cNvSpPr/>
          <p:nvPr/>
        </p:nvSpPr>
        <p:spPr>
          <a:xfrm flipH="false" flipV="false" rot="0">
            <a:off x="6725044" y="2756058"/>
            <a:ext cx="1558092" cy="1498601"/>
          </a:xfrm>
          <a:custGeom>
            <a:avLst/>
            <a:gdLst/>
            <a:ahLst/>
            <a:cxnLst/>
            <a:rect r="r" b="b" t="t" l="l"/>
            <a:pathLst>
              <a:path h="1498601" w="1558092">
                <a:moveTo>
                  <a:pt x="0" y="0"/>
                </a:moveTo>
                <a:lnTo>
                  <a:pt x="1558092" y="0"/>
                </a:lnTo>
                <a:lnTo>
                  <a:pt x="1558092" y="1498601"/>
                </a:lnTo>
                <a:lnTo>
                  <a:pt x="0" y="149860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8002244" y="7335838"/>
            <a:ext cx="3562066" cy="2297532"/>
          </a:xfrm>
          <a:custGeom>
            <a:avLst/>
            <a:gdLst/>
            <a:ahLst/>
            <a:cxnLst/>
            <a:rect r="r" b="b" t="t" l="l"/>
            <a:pathLst>
              <a:path h="2297532" w="3562066">
                <a:moveTo>
                  <a:pt x="0" y="0"/>
                </a:moveTo>
                <a:lnTo>
                  <a:pt x="3562066" y="0"/>
                </a:lnTo>
                <a:lnTo>
                  <a:pt x="3562066" y="2297532"/>
                </a:lnTo>
                <a:lnTo>
                  <a:pt x="0" y="22975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true" flipV="false" rot="0">
            <a:off x="16583931" y="8381645"/>
            <a:ext cx="967983" cy="931023"/>
          </a:xfrm>
          <a:custGeom>
            <a:avLst/>
            <a:gdLst/>
            <a:ahLst/>
            <a:cxnLst/>
            <a:rect r="r" b="b" t="t" l="l"/>
            <a:pathLst>
              <a:path h="931023" w="967983">
                <a:moveTo>
                  <a:pt x="967983" y="0"/>
                </a:moveTo>
                <a:lnTo>
                  <a:pt x="0" y="0"/>
                </a:lnTo>
                <a:lnTo>
                  <a:pt x="0" y="931023"/>
                </a:lnTo>
                <a:lnTo>
                  <a:pt x="967983" y="931023"/>
                </a:lnTo>
                <a:lnTo>
                  <a:pt x="96798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686213" y="3538538"/>
            <a:ext cx="7733091" cy="3495674"/>
          </a:xfrm>
          <a:prstGeom prst="rect">
            <a:avLst/>
          </a:prstGeom>
        </p:spPr>
        <p:txBody>
          <a:bodyPr anchor="t" rtlCol="false" tIns="0" lIns="0" bIns="0" rIns="0">
            <a:spAutoFit/>
          </a:bodyPr>
          <a:lstStyle/>
          <a:p>
            <a:pPr algn="l">
              <a:lnSpc>
                <a:spcPts val="8999"/>
              </a:lnSpc>
            </a:pPr>
            <a:r>
              <a:rPr lang="en-US" sz="9999" spc="199">
                <a:solidFill>
                  <a:srgbClr val="004AAD"/>
                </a:solidFill>
                <a:latin typeface="GN- きんいろサンセリフ"/>
                <a:ea typeface="GN- きんいろサンセリフ"/>
                <a:cs typeface="GN- きんいろサンセリフ"/>
                <a:sym typeface="GN- きんいろサンセリフ"/>
              </a:rPr>
              <a:t>WEBSITE RESERVASI KOS-KOS 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10284878">
            <a:off x="9363027" y="5250738"/>
            <a:ext cx="11022828" cy="11185527"/>
          </a:xfrm>
          <a:custGeom>
            <a:avLst/>
            <a:gdLst/>
            <a:ahLst/>
            <a:cxnLst/>
            <a:rect r="r" b="b" t="t" l="l"/>
            <a:pathLst>
              <a:path h="11185527" w="11022828">
                <a:moveTo>
                  <a:pt x="0" y="0"/>
                </a:moveTo>
                <a:lnTo>
                  <a:pt x="11022828" y="0"/>
                </a:lnTo>
                <a:lnTo>
                  <a:pt x="11022828" y="11185527"/>
                </a:lnTo>
                <a:lnTo>
                  <a:pt x="0" y="11185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394702" y="8605819"/>
            <a:ext cx="6404497" cy="3362361"/>
          </a:xfrm>
          <a:custGeom>
            <a:avLst/>
            <a:gdLst/>
            <a:ahLst/>
            <a:cxnLst/>
            <a:rect r="r" b="b" t="t" l="l"/>
            <a:pathLst>
              <a:path h="3362361" w="6404497">
                <a:moveTo>
                  <a:pt x="6404498" y="0"/>
                </a:moveTo>
                <a:lnTo>
                  <a:pt x="0" y="0"/>
                </a:lnTo>
                <a:lnTo>
                  <a:pt x="0" y="3362362"/>
                </a:lnTo>
                <a:lnTo>
                  <a:pt x="6404498" y="3362362"/>
                </a:lnTo>
                <a:lnTo>
                  <a:pt x="6404498"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376186">
            <a:off x="10762979" y="2193527"/>
            <a:ext cx="6154713" cy="6154713"/>
            <a:chOff x="0" y="0"/>
            <a:chExt cx="19050000" cy="19050000"/>
          </a:xfrm>
        </p:grpSpPr>
        <p:sp>
          <p:nvSpPr>
            <p:cNvPr name="Freeform 6" id="6"/>
            <p:cNvSpPr/>
            <p:nvPr/>
          </p:nvSpPr>
          <p:spPr>
            <a:xfrm flipH="false" flipV="false" rot="0">
              <a:off x="1106665" y="1106665"/>
              <a:ext cx="16836669" cy="16836669"/>
            </a:xfrm>
            <a:custGeom>
              <a:avLst/>
              <a:gdLst/>
              <a:ahLst/>
              <a:cxnLst/>
              <a:rect r="r" b="b" t="t" l="l"/>
              <a:pathLst>
                <a:path h="16836669" w="16836669">
                  <a:moveTo>
                    <a:pt x="0" y="0"/>
                  </a:moveTo>
                  <a:lnTo>
                    <a:pt x="16836669" y="0"/>
                  </a:lnTo>
                  <a:lnTo>
                    <a:pt x="16836669" y="16836669"/>
                  </a:lnTo>
                  <a:lnTo>
                    <a:pt x="0" y="16836669"/>
                  </a:lnTo>
                  <a:close/>
                </a:path>
              </a:pathLst>
            </a:custGeom>
            <a:blipFill>
              <a:blip r:embed="rId7"/>
              <a:stretch>
                <a:fillRect l="0" t="0" r="0" b="0"/>
              </a:stretch>
            </a:blipFill>
          </p:spPr>
        </p:sp>
        <p:sp>
          <p:nvSpPr>
            <p:cNvPr name="Freeform 7" id="7"/>
            <p:cNvSpPr/>
            <p:nvPr/>
          </p:nvSpPr>
          <p:spPr>
            <a:xfrm flipH="false" flipV="false" rot="0">
              <a:off x="0" y="0"/>
              <a:ext cx="19050000" cy="19050000"/>
            </a:xfrm>
            <a:custGeom>
              <a:avLst/>
              <a:gdLst/>
              <a:ahLst/>
              <a:cxnLst/>
              <a:rect r="r" b="b" t="t" l="l"/>
              <a:pathLst>
                <a:path h="19050000" w="19050000">
                  <a:moveTo>
                    <a:pt x="0" y="0"/>
                  </a:moveTo>
                  <a:lnTo>
                    <a:pt x="19050000" y="0"/>
                  </a:lnTo>
                  <a:lnTo>
                    <a:pt x="19050000" y="19050000"/>
                  </a:lnTo>
                  <a:lnTo>
                    <a:pt x="0" y="19050000"/>
                  </a:lnTo>
                  <a:close/>
                </a:path>
              </a:pathLst>
            </a:custGeom>
            <a:blipFill>
              <a:blip r:embed="rId8"/>
              <a:stretch>
                <a:fillRect l="0" t="0" r="0" b="0"/>
              </a:stretch>
            </a:blipFill>
          </p:spPr>
        </p:sp>
      </p:grpSp>
      <p:sp>
        <p:nvSpPr>
          <p:cNvPr name="Freeform 8" id="8"/>
          <p:cNvSpPr/>
          <p:nvPr/>
        </p:nvSpPr>
        <p:spPr>
          <a:xfrm flipH="false" flipV="false" rot="0">
            <a:off x="9144000" y="8111741"/>
            <a:ext cx="1891727" cy="1819497"/>
          </a:xfrm>
          <a:custGeom>
            <a:avLst/>
            <a:gdLst/>
            <a:ahLst/>
            <a:cxnLst/>
            <a:rect r="r" b="b" t="t" l="l"/>
            <a:pathLst>
              <a:path h="1819497" w="1891727">
                <a:moveTo>
                  <a:pt x="0" y="0"/>
                </a:moveTo>
                <a:lnTo>
                  <a:pt x="1891727" y="0"/>
                </a:lnTo>
                <a:lnTo>
                  <a:pt x="1891727" y="1819497"/>
                </a:lnTo>
                <a:lnTo>
                  <a:pt x="0" y="18194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5871497">
            <a:off x="13019366" y="705719"/>
            <a:ext cx="1072554" cy="3471688"/>
          </a:xfrm>
          <a:custGeom>
            <a:avLst/>
            <a:gdLst/>
            <a:ahLst/>
            <a:cxnLst/>
            <a:rect r="r" b="b" t="t" l="l"/>
            <a:pathLst>
              <a:path h="3471688" w="1072554">
                <a:moveTo>
                  <a:pt x="0" y="0"/>
                </a:moveTo>
                <a:lnTo>
                  <a:pt x="1072554" y="0"/>
                </a:lnTo>
                <a:lnTo>
                  <a:pt x="1072554" y="3471688"/>
                </a:lnTo>
                <a:lnTo>
                  <a:pt x="0" y="3471688"/>
                </a:lnTo>
                <a:lnTo>
                  <a:pt x="0" y="0"/>
                </a:lnTo>
                <a:close/>
              </a:path>
            </a:pathLst>
          </a:custGeom>
          <a:blipFill>
            <a:blip r:embed="rId11"/>
            <a:stretch>
              <a:fillRect l="0" t="0" r="0" b="0"/>
            </a:stretch>
          </a:blipFill>
        </p:spPr>
      </p:sp>
      <p:sp>
        <p:nvSpPr>
          <p:cNvPr name="Freeform 10" id="10"/>
          <p:cNvSpPr/>
          <p:nvPr/>
        </p:nvSpPr>
        <p:spPr>
          <a:xfrm flipH="false" flipV="false" rot="0">
            <a:off x="16658480" y="-508443"/>
            <a:ext cx="4155113" cy="2181434"/>
          </a:xfrm>
          <a:custGeom>
            <a:avLst/>
            <a:gdLst/>
            <a:ahLst/>
            <a:cxnLst/>
            <a:rect r="r" b="b" t="t" l="l"/>
            <a:pathLst>
              <a:path h="2181434" w="4155113">
                <a:moveTo>
                  <a:pt x="0" y="0"/>
                </a:moveTo>
                <a:lnTo>
                  <a:pt x="4155113" y="0"/>
                </a:lnTo>
                <a:lnTo>
                  <a:pt x="4155113" y="2181435"/>
                </a:lnTo>
                <a:lnTo>
                  <a:pt x="0" y="21814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916051" y="1403339"/>
            <a:ext cx="7733091" cy="2362199"/>
          </a:xfrm>
          <a:prstGeom prst="rect">
            <a:avLst/>
          </a:prstGeom>
        </p:spPr>
        <p:txBody>
          <a:bodyPr anchor="t" rtlCol="false" tIns="0" lIns="0" bIns="0" rIns="0">
            <a:spAutoFit/>
          </a:bodyPr>
          <a:lstStyle/>
          <a:p>
            <a:pPr algn="l">
              <a:lnSpc>
                <a:spcPts val="8999"/>
              </a:lnSpc>
            </a:pPr>
            <a:r>
              <a:rPr lang="en-US" sz="9999" spc="199">
                <a:solidFill>
                  <a:srgbClr val="004AAD"/>
                </a:solidFill>
                <a:latin typeface="GN- きんいろサンセリフ"/>
                <a:ea typeface="GN- きんいろサンセリフ"/>
                <a:cs typeface="GN- きんいろサンセリフ"/>
                <a:sym typeface="GN- きんいろサンセリフ"/>
              </a:rPr>
              <a:t>LATAR BELAKANG</a:t>
            </a:r>
          </a:p>
        </p:txBody>
      </p:sp>
      <p:sp>
        <p:nvSpPr>
          <p:cNvPr name="TextBox 12" id="12"/>
          <p:cNvSpPr txBox="true"/>
          <p:nvPr/>
        </p:nvSpPr>
        <p:spPr>
          <a:xfrm rot="0">
            <a:off x="678408" y="4233517"/>
            <a:ext cx="9766900" cy="3726773"/>
          </a:xfrm>
          <a:prstGeom prst="rect">
            <a:avLst/>
          </a:prstGeom>
        </p:spPr>
        <p:txBody>
          <a:bodyPr anchor="t" rtlCol="false" tIns="0" lIns="0" bIns="0" rIns="0">
            <a:spAutoFit/>
          </a:bodyPr>
          <a:lstStyle/>
          <a:p>
            <a:pPr algn="just">
              <a:lnSpc>
                <a:spcPts val="2712"/>
              </a:lnSpc>
            </a:pPr>
            <a:r>
              <a:rPr lang="en-US" sz="2260">
                <a:solidFill>
                  <a:srgbClr val="090001"/>
                </a:solidFill>
                <a:latin typeface="Montserrat"/>
                <a:ea typeface="Montserrat"/>
                <a:cs typeface="Montserrat"/>
                <a:sym typeface="Montserrat"/>
              </a:rPr>
              <a:t>Kebutuhan akan tempat tinggal sementara seperti rumah kos terus meningkat, terutama di kota-kota besar yang menjadi pusat pendidikan dan pekerjaan. Mahasiswa, pelajar, dan pekerja dari luar kota seringkali kesulitan menemukan kos yang sesuai kebutuhan karena keterbatasan informasi dan waktu.</a:t>
            </a:r>
          </a:p>
          <a:p>
            <a:pPr algn="just">
              <a:lnSpc>
                <a:spcPts val="2712"/>
              </a:lnSpc>
            </a:pPr>
            <a:r>
              <a:rPr lang="en-US" sz="2260">
                <a:solidFill>
                  <a:srgbClr val="090001"/>
                </a:solidFill>
                <a:latin typeface="Montserrat"/>
                <a:ea typeface="Montserrat"/>
                <a:cs typeface="Montserrat"/>
                <a:sym typeface="Montserrat"/>
              </a:rPr>
              <a:t>JuraganKost dikembangkan sebagai solusi digital yang memudahkan proses pencarian dan penyewaan kos secara online. Platform ini juga memberikan kemudahan bagi pemilik kos dalam mempromosikan hunian mereka kepada calon penyewa tanpa perlu melalui proses manual yang melelahkan.</a:t>
            </a:r>
          </a:p>
          <a:p>
            <a:pPr algn="just">
              <a:lnSpc>
                <a:spcPts val="271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10284878">
            <a:off x="4087242" y="-2149598"/>
            <a:ext cx="17002721" cy="17253683"/>
          </a:xfrm>
          <a:custGeom>
            <a:avLst/>
            <a:gdLst/>
            <a:ahLst/>
            <a:cxnLst/>
            <a:rect r="r" b="b" t="t" l="l"/>
            <a:pathLst>
              <a:path h="17253683" w="17002721">
                <a:moveTo>
                  <a:pt x="0" y="0"/>
                </a:moveTo>
                <a:lnTo>
                  <a:pt x="17002721" y="0"/>
                </a:lnTo>
                <a:lnTo>
                  <a:pt x="17002721" y="17253684"/>
                </a:lnTo>
                <a:lnTo>
                  <a:pt x="0" y="172536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813100" y="-195552"/>
            <a:ext cx="5040132" cy="2639769"/>
          </a:xfrm>
          <a:custGeom>
            <a:avLst/>
            <a:gdLst/>
            <a:ahLst/>
            <a:cxnLst/>
            <a:rect r="r" b="b" t="t" l="l"/>
            <a:pathLst>
              <a:path h="2639769" w="5040132">
                <a:moveTo>
                  <a:pt x="0" y="0"/>
                </a:moveTo>
                <a:lnTo>
                  <a:pt x="5040131" y="0"/>
                </a:lnTo>
                <a:lnTo>
                  <a:pt x="5040131" y="2639769"/>
                </a:lnTo>
                <a:lnTo>
                  <a:pt x="0" y="26397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561344" y="8249072"/>
            <a:ext cx="1558092" cy="1498601"/>
          </a:xfrm>
          <a:custGeom>
            <a:avLst/>
            <a:gdLst/>
            <a:ahLst/>
            <a:cxnLst/>
            <a:rect r="r" b="b" t="t" l="l"/>
            <a:pathLst>
              <a:path h="1498601" w="1558092">
                <a:moveTo>
                  <a:pt x="0" y="0"/>
                </a:moveTo>
                <a:lnTo>
                  <a:pt x="1558091" y="0"/>
                </a:lnTo>
                <a:lnTo>
                  <a:pt x="1558091" y="1498601"/>
                </a:lnTo>
                <a:lnTo>
                  <a:pt x="0" y="149860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1262014" y="4636296"/>
            <a:ext cx="4299329" cy="5992097"/>
          </a:xfrm>
          <a:custGeom>
            <a:avLst/>
            <a:gdLst/>
            <a:ahLst/>
            <a:cxnLst/>
            <a:rect r="r" b="b" t="t" l="l"/>
            <a:pathLst>
              <a:path h="5992097" w="4299329">
                <a:moveTo>
                  <a:pt x="4299330" y="0"/>
                </a:moveTo>
                <a:lnTo>
                  <a:pt x="0" y="0"/>
                </a:lnTo>
                <a:lnTo>
                  <a:pt x="0" y="5992097"/>
                </a:lnTo>
                <a:lnTo>
                  <a:pt x="4299330" y="5992097"/>
                </a:lnTo>
                <a:lnTo>
                  <a:pt x="4299330" y="0"/>
                </a:lnTo>
                <a:close/>
              </a:path>
            </a:pathLst>
          </a:custGeom>
          <a:blipFill>
            <a:blip r:embed="rId9"/>
            <a:stretch>
              <a:fillRect l="0" t="0" r="0" b="0"/>
            </a:stretch>
          </a:blipFill>
        </p:spPr>
      </p:sp>
      <p:sp>
        <p:nvSpPr>
          <p:cNvPr name="Freeform 7" id="7"/>
          <p:cNvSpPr/>
          <p:nvPr/>
        </p:nvSpPr>
        <p:spPr>
          <a:xfrm flipH="false" flipV="false" rot="0">
            <a:off x="12791575" y="8111741"/>
            <a:ext cx="5072657" cy="3271864"/>
          </a:xfrm>
          <a:custGeom>
            <a:avLst/>
            <a:gdLst/>
            <a:ahLst/>
            <a:cxnLst/>
            <a:rect r="r" b="b" t="t" l="l"/>
            <a:pathLst>
              <a:path h="3271864" w="5072657">
                <a:moveTo>
                  <a:pt x="0" y="0"/>
                </a:moveTo>
                <a:lnTo>
                  <a:pt x="5072657" y="0"/>
                </a:lnTo>
                <a:lnTo>
                  <a:pt x="5072657" y="3271864"/>
                </a:lnTo>
                <a:lnTo>
                  <a:pt x="0" y="32718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7853231" y="652846"/>
            <a:ext cx="7733091" cy="1228724"/>
          </a:xfrm>
          <a:prstGeom prst="rect">
            <a:avLst/>
          </a:prstGeom>
        </p:spPr>
        <p:txBody>
          <a:bodyPr anchor="t" rtlCol="false" tIns="0" lIns="0" bIns="0" rIns="0">
            <a:spAutoFit/>
          </a:bodyPr>
          <a:lstStyle/>
          <a:p>
            <a:pPr algn="l">
              <a:lnSpc>
                <a:spcPts val="8999"/>
              </a:lnSpc>
            </a:pPr>
            <a:r>
              <a:rPr lang="en-US" sz="9999" spc="199">
                <a:solidFill>
                  <a:srgbClr val="FFFFFF"/>
                </a:solidFill>
                <a:latin typeface="GN- きんいろサンセリフ"/>
                <a:ea typeface="GN- きんいろサンセリフ"/>
                <a:cs typeface="GN- きんいろサンセリフ"/>
                <a:sym typeface="GN- きんいろサンセリフ"/>
              </a:rPr>
              <a:t>TUJUAN</a:t>
            </a:r>
          </a:p>
        </p:txBody>
      </p:sp>
      <p:sp>
        <p:nvSpPr>
          <p:cNvPr name="TextBox 9" id="9"/>
          <p:cNvSpPr txBox="true"/>
          <p:nvPr/>
        </p:nvSpPr>
        <p:spPr>
          <a:xfrm rot="0">
            <a:off x="6110341" y="2444217"/>
            <a:ext cx="10602636" cy="6122740"/>
          </a:xfrm>
          <a:prstGeom prst="rect">
            <a:avLst/>
          </a:prstGeom>
        </p:spPr>
        <p:txBody>
          <a:bodyPr anchor="t" rtlCol="false" tIns="0" lIns="0" bIns="0" rIns="0">
            <a:spAutoFit/>
          </a:bodyPr>
          <a:lstStyle/>
          <a:p>
            <a:pPr algn="just">
              <a:lnSpc>
                <a:spcPts val="2537"/>
              </a:lnSpc>
            </a:pPr>
            <a:r>
              <a:rPr lang="en-US" sz="2114">
                <a:solidFill>
                  <a:srgbClr val="FFFFFF"/>
                </a:solidFill>
                <a:latin typeface="Montserrat"/>
                <a:ea typeface="Montserrat"/>
                <a:cs typeface="Montserrat"/>
                <a:sym typeface="Montserrat"/>
              </a:rPr>
              <a:t>Tujuan dari pengembangan sistem JuraganKost adalah untuk membangun sebuah platform digital yang komprehensif dan user-friendly yang mampu menjembatani kebutuhan antara pencari kos dan pemilik kos dalam satu ekosistem terpadu. Platform ini dirancang agar dapat membantu calon penyewa untuk memperoleh informasi yang akurat, lengkap, dan terpercaya mengenai tempat tinggal berupa rumah kos—mulai dari harga sewa, fasilitas, lokasi strategis melalui integrasi Google Maps, hingga ulasan pengalaman dari pengguna lain—sehingga proses pencarian dapat dilakukan dengan efisien tanpa harus melakukan survei lokasi secara langsung.</a:t>
            </a:r>
          </a:p>
          <a:p>
            <a:pPr algn="just">
              <a:lnSpc>
                <a:spcPts val="2537"/>
              </a:lnSpc>
            </a:pPr>
            <a:r>
              <a:rPr lang="en-US" sz="2114">
                <a:solidFill>
                  <a:srgbClr val="FFFFFF"/>
                </a:solidFill>
                <a:latin typeface="Montserrat"/>
                <a:ea typeface="Montserrat"/>
                <a:cs typeface="Montserrat"/>
                <a:sym typeface="Montserrat"/>
              </a:rPr>
              <a:t>Selain itu, sistem ini bertujuan untuk memberdayakan pemilik kos agar dapat secara mandiri mengelola, mempromosikan, dan memperbarui informasi hunian mereka tanpa bergantung pada pihak ketiga atau metode manual yang tidak efisien. Melalui dashboard admin yang tersedia, pengelolaan data kos dan ulasan pengguna juga dapat dilakukan secara terpusat, transparan, dan terorganisir, guna mendukung keberlangsungan sistem yang aman dan dapat diandalkan dalam jangka panjang. Dengan demikian, JuraganKost hadir tidak hanya sebagai aplikasi pencari kos biasa, tetapi sebagai solusi digital yang menjawab tantangan industri hunian sewa dalam era modern.</a:t>
            </a:r>
          </a:p>
          <a:p>
            <a:pPr algn="just">
              <a:lnSpc>
                <a:spcPts val="2537"/>
              </a:lnSpc>
            </a:pPr>
          </a:p>
        </p:txBody>
      </p:sp>
      <p:sp>
        <p:nvSpPr>
          <p:cNvPr name="Freeform 10" id="10"/>
          <p:cNvSpPr/>
          <p:nvPr/>
        </p:nvSpPr>
        <p:spPr>
          <a:xfrm flipH="true" flipV="false" rot="0">
            <a:off x="16166655" y="1124333"/>
            <a:ext cx="1092645" cy="1050926"/>
          </a:xfrm>
          <a:custGeom>
            <a:avLst/>
            <a:gdLst/>
            <a:ahLst/>
            <a:cxnLst/>
            <a:rect r="r" b="b" t="t" l="l"/>
            <a:pathLst>
              <a:path h="1050926" w="1092645">
                <a:moveTo>
                  <a:pt x="1092645" y="0"/>
                </a:moveTo>
                <a:lnTo>
                  <a:pt x="0" y="0"/>
                </a:lnTo>
                <a:lnTo>
                  <a:pt x="0" y="1050926"/>
                </a:lnTo>
                <a:lnTo>
                  <a:pt x="1092645" y="1050926"/>
                </a:lnTo>
                <a:lnTo>
                  <a:pt x="109264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true" flipV="false" rot="0">
            <a:off x="8859943" y="2352675"/>
            <a:ext cx="1092645" cy="1050926"/>
          </a:xfrm>
          <a:custGeom>
            <a:avLst/>
            <a:gdLst/>
            <a:ahLst/>
            <a:cxnLst/>
            <a:rect r="r" b="b" t="t" l="l"/>
            <a:pathLst>
              <a:path h="1050926" w="1092645">
                <a:moveTo>
                  <a:pt x="1092645" y="0"/>
                </a:moveTo>
                <a:lnTo>
                  <a:pt x="0" y="0"/>
                </a:lnTo>
                <a:lnTo>
                  <a:pt x="0" y="1050925"/>
                </a:lnTo>
                <a:lnTo>
                  <a:pt x="1092645" y="1050925"/>
                </a:lnTo>
                <a:lnTo>
                  <a:pt x="109264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4931403">
            <a:off x="15419236" y="-1056232"/>
            <a:ext cx="1072554" cy="3471688"/>
          </a:xfrm>
          <a:custGeom>
            <a:avLst/>
            <a:gdLst/>
            <a:ahLst/>
            <a:cxnLst/>
            <a:rect r="r" b="b" t="t" l="l"/>
            <a:pathLst>
              <a:path h="3471688" w="1072554">
                <a:moveTo>
                  <a:pt x="0" y="0"/>
                </a:moveTo>
                <a:lnTo>
                  <a:pt x="1072554" y="0"/>
                </a:lnTo>
                <a:lnTo>
                  <a:pt x="1072554" y="3471688"/>
                </a:lnTo>
                <a:lnTo>
                  <a:pt x="0" y="3471688"/>
                </a:lnTo>
                <a:lnTo>
                  <a:pt x="0" y="0"/>
                </a:lnTo>
                <a:close/>
              </a:path>
            </a:pathLst>
          </a:custGeom>
          <a:blipFill>
            <a:blip r:embed="rId5"/>
            <a:stretch>
              <a:fillRect l="0" t="0" r="0" b="0"/>
            </a:stretch>
          </a:blipFill>
        </p:spPr>
      </p:sp>
      <p:grpSp>
        <p:nvGrpSpPr>
          <p:cNvPr name="Group 5" id="5"/>
          <p:cNvGrpSpPr/>
          <p:nvPr/>
        </p:nvGrpSpPr>
        <p:grpSpPr>
          <a:xfrm rot="0">
            <a:off x="877912" y="2034175"/>
            <a:ext cx="16062038" cy="7066520"/>
            <a:chOff x="0" y="0"/>
            <a:chExt cx="4230331" cy="1861141"/>
          </a:xfrm>
        </p:grpSpPr>
        <p:sp>
          <p:nvSpPr>
            <p:cNvPr name="Freeform 6" id="6"/>
            <p:cNvSpPr/>
            <p:nvPr/>
          </p:nvSpPr>
          <p:spPr>
            <a:xfrm flipH="false" flipV="false" rot="0">
              <a:off x="0" y="0"/>
              <a:ext cx="4230331" cy="1861141"/>
            </a:xfrm>
            <a:custGeom>
              <a:avLst/>
              <a:gdLst/>
              <a:ahLst/>
              <a:cxnLst/>
              <a:rect r="r" b="b" t="t" l="l"/>
              <a:pathLst>
                <a:path h="1861141" w="4230331">
                  <a:moveTo>
                    <a:pt x="48200" y="0"/>
                  </a:moveTo>
                  <a:lnTo>
                    <a:pt x="4182131" y="0"/>
                  </a:lnTo>
                  <a:cubicBezTo>
                    <a:pt x="4194914" y="0"/>
                    <a:pt x="4207174" y="5078"/>
                    <a:pt x="4216214" y="14117"/>
                  </a:cubicBezTo>
                  <a:cubicBezTo>
                    <a:pt x="4225253" y="23157"/>
                    <a:pt x="4230331" y="35417"/>
                    <a:pt x="4230331" y="48200"/>
                  </a:cubicBezTo>
                  <a:lnTo>
                    <a:pt x="4230331" y="1812941"/>
                  </a:lnTo>
                  <a:cubicBezTo>
                    <a:pt x="4230331" y="1825724"/>
                    <a:pt x="4225253" y="1837984"/>
                    <a:pt x="4216214" y="1847024"/>
                  </a:cubicBezTo>
                  <a:cubicBezTo>
                    <a:pt x="4207174" y="1856063"/>
                    <a:pt x="4194914" y="1861141"/>
                    <a:pt x="4182131" y="1861141"/>
                  </a:cubicBezTo>
                  <a:lnTo>
                    <a:pt x="48200" y="1861141"/>
                  </a:lnTo>
                  <a:cubicBezTo>
                    <a:pt x="35417" y="1861141"/>
                    <a:pt x="23157" y="1856063"/>
                    <a:pt x="14117" y="1847024"/>
                  </a:cubicBezTo>
                  <a:cubicBezTo>
                    <a:pt x="5078" y="1837984"/>
                    <a:pt x="0" y="1825724"/>
                    <a:pt x="0" y="1812941"/>
                  </a:cubicBezTo>
                  <a:lnTo>
                    <a:pt x="0" y="48200"/>
                  </a:lnTo>
                  <a:cubicBezTo>
                    <a:pt x="0" y="35417"/>
                    <a:pt x="5078" y="23157"/>
                    <a:pt x="14117" y="14117"/>
                  </a:cubicBezTo>
                  <a:cubicBezTo>
                    <a:pt x="23157" y="5078"/>
                    <a:pt x="35417" y="0"/>
                    <a:pt x="48200" y="0"/>
                  </a:cubicBezTo>
                  <a:close/>
                </a:path>
              </a:pathLst>
            </a:custGeom>
            <a:solidFill>
              <a:srgbClr val="004AAD"/>
            </a:solidFill>
          </p:spPr>
        </p:sp>
        <p:sp>
          <p:nvSpPr>
            <p:cNvPr name="TextBox 7" id="7"/>
            <p:cNvSpPr txBox="true"/>
            <p:nvPr/>
          </p:nvSpPr>
          <p:spPr>
            <a:xfrm>
              <a:off x="0" y="-38100"/>
              <a:ext cx="4230331" cy="1899241"/>
            </a:xfrm>
            <a:prstGeom prst="rect">
              <a:avLst/>
            </a:prstGeom>
          </p:spPr>
          <p:txBody>
            <a:bodyPr anchor="ctr" rtlCol="false" tIns="50800" lIns="50800" bIns="50800" rIns="50800"/>
            <a:lstStyle/>
            <a:p>
              <a:pPr algn="ctr">
                <a:lnSpc>
                  <a:spcPts val="2659"/>
                </a:lnSpc>
              </a:pPr>
            </a:p>
          </p:txBody>
        </p:sp>
      </p:grpSp>
      <p:grpSp>
        <p:nvGrpSpPr>
          <p:cNvPr name="Group 8" id="8"/>
          <p:cNvGrpSpPr>
            <a:grpSpLocks noChangeAspect="true"/>
          </p:cNvGrpSpPr>
          <p:nvPr/>
        </p:nvGrpSpPr>
        <p:grpSpPr>
          <a:xfrm rot="468596">
            <a:off x="14010754" y="561295"/>
            <a:ext cx="3547588" cy="2613390"/>
            <a:chOff x="0" y="0"/>
            <a:chExt cx="19050000" cy="14033500"/>
          </a:xfrm>
        </p:grpSpPr>
        <p:sp>
          <p:nvSpPr>
            <p:cNvPr name="Freeform 9" id="9"/>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6"/>
              <a:stretch>
                <a:fillRect l="0" t="-19601" r="0" b="-19601"/>
              </a:stretch>
            </a:blipFill>
          </p:spPr>
        </p:sp>
        <p:sp>
          <p:nvSpPr>
            <p:cNvPr name="Freeform 10" id="10"/>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7"/>
              <a:stretch>
                <a:fillRect l="0" t="0" r="0" b="-281"/>
              </a:stretch>
            </a:blipFill>
          </p:spPr>
        </p:sp>
      </p:grpSp>
      <p:sp>
        <p:nvSpPr>
          <p:cNvPr name="Freeform 11" id="11"/>
          <p:cNvSpPr/>
          <p:nvPr/>
        </p:nvSpPr>
        <p:spPr>
          <a:xfrm flipH="false" flipV="false" rot="0">
            <a:off x="14952595" y="6856241"/>
            <a:ext cx="5446113" cy="2859209"/>
          </a:xfrm>
          <a:custGeom>
            <a:avLst/>
            <a:gdLst/>
            <a:ahLst/>
            <a:cxnLst/>
            <a:rect r="r" b="b" t="t" l="l"/>
            <a:pathLst>
              <a:path h="2859209" w="5446113">
                <a:moveTo>
                  <a:pt x="0" y="0"/>
                </a:moveTo>
                <a:lnTo>
                  <a:pt x="5446113" y="0"/>
                </a:lnTo>
                <a:lnTo>
                  <a:pt x="5446113" y="2859209"/>
                </a:lnTo>
                <a:lnTo>
                  <a:pt x="0" y="28592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284878">
            <a:off x="-1848604" y="9098157"/>
            <a:ext cx="11780158" cy="11954035"/>
          </a:xfrm>
          <a:custGeom>
            <a:avLst/>
            <a:gdLst/>
            <a:ahLst/>
            <a:cxnLst/>
            <a:rect r="r" b="b" t="t" l="l"/>
            <a:pathLst>
              <a:path h="11954035" w="11780158">
                <a:moveTo>
                  <a:pt x="0" y="0"/>
                </a:moveTo>
                <a:lnTo>
                  <a:pt x="11780158" y="0"/>
                </a:lnTo>
                <a:lnTo>
                  <a:pt x="11780158" y="11954036"/>
                </a:lnTo>
                <a:lnTo>
                  <a:pt x="0" y="119540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877912" y="975307"/>
            <a:ext cx="7733091" cy="1228724"/>
          </a:xfrm>
          <a:prstGeom prst="rect">
            <a:avLst/>
          </a:prstGeom>
        </p:spPr>
        <p:txBody>
          <a:bodyPr anchor="t" rtlCol="false" tIns="0" lIns="0" bIns="0" rIns="0">
            <a:spAutoFit/>
          </a:bodyPr>
          <a:lstStyle/>
          <a:p>
            <a:pPr algn="l">
              <a:lnSpc>
                <a:spcPts val="8999"/>
              </a:lnSpc>
            </a:pPr>
            <a:r>
              <a:rPr lang="en-US" sz="9999" spc="199">
                <a:solidFill>
                  <a:srgbClr val="004AAD"/>
                </a:solidFill>
                <a:latin typeface="GN- きんいろサンセリフ"/>
                <a:ea typeface="GN- きんいろサンセリフ"/>
                <a:cs typeface="GN- きんいろサンセリフ"/>
                <a:sym typeface="GN- きんいろサンセリフ"/>
              </a:rPr>
              <a:t>FITUR-FITUR</a:t>
            </a:r>
          </a:p>
        </p:txBody>
      </p:sp>
      <p:sp>
        <p:nvSpPr>
          <p:cNvPr name="TextBox 14" id="14"/>
          <p:cNvSpPr txBox="true"/>
          <p:nvPr/>
        </p:nvSpPr>
        <p:spPr>
          <a:xfrm rot="0">
            <a:off x="1266493" y="2639851"/>
            <a:ext cx="14689020" cy="6069330"/>
          </a:xfrm>
          <a:prstGeom prst="rect">
            <a:avLst/>
          </a:prstGeom>
        </p:spPr>
        <p:txBody>
          <a:bodyPr anchor="t" rtlCol="false" tIns="0" lIns="0" bIns="0" rIns="0">
            <a:spAutoFit/>
          </a:bodyPr>
          <a:lstStyle/>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Pencarian Kos berdasarkan lokasi, kategori, dan fasilitas.</a:t>
            </a:r>
          </a:p>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Detail Kos Lengkap: foto, harga, fasilitas, dan deskripsi.</a:t>
            </a:r>
          </a:p>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Integrasi Google Maps untu</a:t>
            </a:r>
            <a:r>
              <a:rPr lang="en-US" sz="3200">
                <a:solidFill>
                  <a:srgbClr val="FFFFFF"/>
                </a:solidFill>
                <a:latin typeface="Montserrat"/>
                <a:ea typeface="Montserrat"/>
                <a:cs typeface="Montserrat"/>
                <a:sym typeface="Montserrat"/>
              </a:rPr>
              <a:t>k melihat lokasi kos secara langsung.</a:t>
            </a:r>
          </a:p>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Ulasan &amp; Rating dari pengguna sebelumnya.</a:t>
            </a:r>
          </a:p>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Login &amp; Daftar Akun bagi pengguna dan pemilik kos.</a:t>
            </a:r>
          </a:p>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Dashboard Admin untuk mengelola kos, pengguna, dan ulasan.</a:t>
            </a:r>
          </a:p>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Tombol Sewa Sekarang yang langsung terhubung ke halaman pemesanan.</a:t>
            </a:r>
          </a:p>
          <a:p>
            <a:pPr algn="l" marL="690881" indent="-345440" lvl="1">
              <a:lnSpc>
                <a:spcPts val="4800"/>
              </a:lnSpc>
              <a:buFont typeface="Arial"/>
              <a:buChar char="•"/>
            </a:pPr>
            <a:r>
              <a:rPr lang="en-US" sz="3200">
                <a:solidFill>
                  <a:srgbClr val="FFFFFF"/>
                </a:solidFill>
                <a:latin typeface="Montserrat"/>
                <a:ea typeface="Montserrat"/>
                <a:cs typeface="Montserrat"/>
                <a:sym typeface="Montserrat"/>
              </a:rPr>
              <a:t>📱 Desain Responsif untuk tampilan optimal di semua perangkat.</a:t>
            </a:r>
          </a:p>
          <a:p>
            <a:pPr algn="l">
              <a:lnSpc>
                <a:spcPts val="48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10284878">
            <a:off x="4087242" y="-2149598"/>
            <a:ext cx="17002721" cy="17253683"/>
          </a:xfrm>
          <a:custGeom>
            <a:avLst/>
            <a:gdLst/>
            <a:ahLst/>
            <a:cxnLst/>
            <a:rect r="r" b="b" t="t" l="l"/>
            <a:pathLst>
              <a:path h="17253683" w="17002721">
                <a:moveTo>
                  <a:pt x="0" y="0"/>
                </a:moveTo>
                <a:lnTo>
                  <a:pt x="17002721" y="0"/>
                </a:lnTo>
                <a:lnTo>
                  <a:pt x="17002721" y="17253684"/>
                </a:lnTo>
                <a:lnTo>
                  <a:pt x="0" y="172536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0258" y="1996527"/>
            <a:ext cx="5040132" cy="2639769"/>
          </a:xfrm>
          <a:custGeom>
            <a:avLst/>
            <a:gdLst/>
            <a:ahLst/>
            <a:cxnLst/>
            <a:rect r="r" b="b" t="t" l="l"/>
            <a:pathLst>
              <a:path h="2639769" w="5040132">
                <a:moveTo>
                  <a:pt x="0" y="0"/>
                </a:moveTo>
                <a:lnTo>
                  <a:pt x="5040131" y="0"/>
                </a:lnTo>
                <a:lnTo>
                  <a:pt x="5040131" y="2639769"/>
                </a:lnTo>
                <a:lnTo>
                  <a:pt x="0" y="26397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561344" y="8249072"/>
            <a:ext cx="1558092" cy="1498601"/>
          </a:xfrm>
          <a:custGeom>
            <a:avLst/>
            <a:gdLst/>
            <a:ahLst/>
            <a:cxnLst/>
            <a:rect r="r" b="b" t="t" l="l"/>
            <a:pathLst>
              <a:path h="1498601" w="1558092">
                <a:moveTo>
                  <a:pt x="0" y="0"/>
                </a:moveTo>
                <a:lnTo>
                  <a:pt x="1558091" y="0"/>
                </a:lnTo>
                <a:lnTo>
                  <a:pt x="1558091" y="1498601"/>
                </a:lnTo>
                <a:lnTo>
                  <a:pt x="0" y="149860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1262014" y="4636296"/>
            <a:ext cx="4299329" cy="5992097"/>
          </a:xfrm>
          <a:custGeom>
            <a:avLst/>
            <a:gdLst/>
            <a:ahLst/>
            <a:cxnLst/>
            <a:rect r="r" b="b" t="t" l="l"/>
            <a:pathLst>
              <a:path h="5992097" w="4299329">
                <a:moveTo>
                  <a:pt x="4299330" y="0"/>
                </a:moveTo>
                <a:lnTo>
                  <a:pt x="0" y="0"/>
                </a:lnTo>
                <a:lnTo>
                  <a:pt x="0" y="5992097"/>
                </a:lnTo>
                <a:lnTo>
                  <a:pt x="4299330" y="5992097"/>
                </a:lnTo>
                <a:lnTo>
                  <a:pt x="4299330" y="0"/>
                </a:lnTo>
                <a:close/>
              </a:path>
            </a:pathLst>
          </a:custGeom>
          <a:blipFill>
            <a:blip r:embed="rId9"/>
            <a:stretch>
              <a:fillRect l="0" t="0" r="0" b="0"/>
            </a:stretch>
          </a:blipFill>
        </p:spPr>
      </p:sp>
      <p:sp>
        <p:nvSpPr>
          <p:cNvPr name="Freeform 7" id="7"/>
          <p:cNvSpPr/>
          <p:nvPr/>
        </p:nvSpPr>
        <p:spPr>
          <a:xfrm flipH="false" flipV="false" rot="0">
            <a:off x="12791575" y="8111741"/>
            <a:ext cx="5072657" cy="3271864"/>
          </a:xfrm>
          <a:custGeom>
            <a:avLst/>
            <a:gdLst/>
            <a:ahLst/>
            <a:cxnLst/>
            <a:rect r="r" b="b" t="t" l="l"/>
            <a:pathLst>
              <a:path h="3271864" w="5072657">
                <a:moveTo>
                  <a:pt x="0" y="0"/>
                </a:moveTo>
                <a:lnTo>
                  <a:pt x="5072657" y="0"/>
                </a:lnTo>
                <a:lnTo>
                  <a:pt x="5072657" y="3271864"/>
                </a:lnTo>
                <a:lnTo>
                  <a:pt x="0" y="32718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7853231" y="652846"/>
            <a:ext cx="7733091" cy="1228724"/>
          </a:xfrm>
          <a:prstGeom prst="rect">
            <a:avLst/>
          </a:prstGeom>
        </p:spPr>
        <p:txBody>
          <a:bodyPr anchor="t" rtlCol="false" tIns="0" lIns="0" bIns="0" rIns="0">
            <a:spAutoFit/>
          </a:bodyPr>
          <a:lstStyle/>
          <a:p>
            <a:pPr algn="l">
              <a:lnSpc>
                <a:spcPts val="8999"/>
              </a:lnSpc>
            </a:pPr>
            <a:r>
              <a:rPr lang="en-US" sz="9999" spc="199">
                <a:solidFill>
                  <a:srgbClr val="FFFFFF"/>
                </a:solidFill>
                <a:latin typeface="GN- きんいろサンセリフ"/>
                <a:ea typeface="GN- きんいろサンセリフ"/>
                <a:cs typeface="GN- きんいろサンセリフ"/>
                <a:sym typeface="GN- きんいろサンセリフ"/>
              </a:rPr>
              <a:t>TARGET PASAR</a:t>
            </a:r>
          </a:p>
        </p:txBody>
      </p:sp>
      <p:sp>
        <p:nvSpPr>
          <p:cNvPr name="TextBox 9" id="9"/>
          <p:cNvSpPr txBox="true"/>
          <p:nvPr/>
        </p:nvSpPr>
        <p:spPr>
          <a:xfrm rot="0">
            <a:off x="6340389" y="1996527"/>
            <a:ext cx="10602636" cy="6572250"/>
          </a:xfrm>
          <a:prstGeom prst="rect">
            <a:avLst/>
          </a:prstGeom>
        </p:spPr>
        <p:txBody>
          <a:bodyPr anchor="t" rtlCol="false" tIns="0" lIns="0" bIns="0" rIns="0">
            <a:spAutoFit/>
          </a:bodyPr>
          <a:lstStyle/>
          <a:p>
            <a:pPr algn="just">
              <a:lnSpc>
                <a:spcPts val="2297"/>
              </a:lnSpc>
            </a:pPr>
            <a:r>
              <a:rPr lang="en-US" sz="1914">
                <a:solidFill>
                  <a:srgbClr val="FFFFFF"/>
                </a:solidFill>
                <a:latin typeface="Montserrat"/>
                <a:ea typeface="Montserrat"/>
                <a:cs typeface="Montserrat"/>
                <a:sym typeface="Montserrat"/>
              </a:rPr>
              <a:t>JuraganKost dirancang untuk memenuhi kebutuhan penyedia dan pencari tempat tinggal sementara, khususnya kos-kosan. Target pasar dari platform ini meliputi:</a:t>
            </a:r>
          </a:p>
          <a:p>
            <a:pPr algn="just" marL="413343" indent="-206671" lvl="1">
              <a:lnSpc>
                <a:spcPts val="2297"/>
              </a:lnSpc>
              <a:buAutoNum type="arabicPeriod" startAt="1"/>
            </a:pPr>
            <a:r>
              <a:rPr lang="en-US" sz="1914">
                <a:solidFill>
                  <a:srgbClr val="FFFFFF"/>
                </a:solidFill>
                <a:latin typeface="Montserrat"/>
                <a:ea typeface="Montserrat"/>
                <a:cs typeface="Montserrat"/>
                <a:sym typeface="Montserrat"/>
              </a:rPr>
              <a:t>Mahasiswa dan Pelajar dan Pekerja Dari Luar Kota</a:t>
            </a:r>
          </a:p>
          <a:p>
            <a:pPr algn="just">
              <a:lnSpc>
                <a:spcPts val="2297"/>
              </a:lnSpc>
            </a:pPr>
            <a:r>
              <a:rPr lang="en-US" sz="1914">
                <a:solidFill>
                  <a:srgbClr val="FFFFFF"/>
                </a:solidFill>
                <a:latin typeface="Montserrat"/>
                <a:ea typeface="Montserrat"/>
                <a:cs typeface="Montserrat"/>
                <a:sym typeface="Montserrat"/>
              </a:rPr>
              <a:t>Mereka adalah segmen terbesar yang membutuhkan kos, terutama di kota-kota pendidikan seperti Yogyakarta, Bandung, dan Malang. Fitur pencarian lokasi dan harga sangat relevan untuk membantu mereka menemukan kos sesuai anggaran dan jarak ke kampus.</a:t>
            </a:r>
          </a:p>
          <a:p>
            <a:pPr algn="just">
              <a:lnSpc>
                <a:spcPts val="2297"/>
              </a:lnSpc>
            </a:pPr>
            <a:r>
              <a:rPr lang="en-US" sz="1914">
                <a:solidFill>
                  <a:srgbClr val="FFFFFF"/>
                </a:solidFill>
                <a:latin typeface="Montserrat"/>
                <a:ea typeface="Montserrat"/>
                <a:cs typeface="Montserrat"/>
                <a:sym typeface="Montserrat"/>
              </a:rPr>
              <a:t>2. Pekerja Muda / Profesional</a:t>
            </a:r>
          </a:p>
          <a:p>
            <a:pPr algn="just">
              <a:lnSpc>
                <a:spcPts val="2297"/>
              </a:lnSpc>
            </a:pPr>
            <a:r>
              <a:rPr lang="en-US" sz="1914">
                <a:solidFill>
                  <a:srgbClr val="FFFFFF"/>
                </a:solidFill>
                <a:latin typeface="Montserrat"/>
                <a:ea typeface="Montserrat"/>
                <a:cs typeface="Montserrat"/>
                <a:sym typeface="Montserrat"/>
              </a:rPr>
              <a:t>Kalangan pekerja muda yang merantau dan belum memiliki tempat tinggal tetap menjadi sasaran utama. Mereka membutuhkan kos yang nyaman, aman, dan dekat dengan pusat aktivitas kerja.</a:t>
            </a:r>
          </a:p>
          <a:p>
            <a:pPr algn="just">
              <a:lnSpc>
                <a:spcPts val="2297"/>
              </a:lnSpc>
            </a:pPr>
            <a:r>
              <a:rPr lang="en-US" sz="1914">
                <a:solidFill>
                  <a:srgbClr val="FFFFFF"/>
                </a:solidFill>
                <a:latin typeface="Montserrat"/>
                <a:ea typeface="Montserrat"/>
                <a:cs typeface="Montserrat"/>
                <a:sym typeface="Montserrat"/>
              </a:rPr>
              <a:t>3. Pemilik / Pengelola Kos</a:t>
            </a:r>
          </a:p>
          <a:p>
            <a:pPr algn="just">
              <a:lnSpc>
                <a:spcPts val="2297"/>
              </a:lnSpc>
            </a:pPr>
            <a:r>
              <a:rPr lang="en-US" sz="1914">
                <a:solidFill>
                  <a:srgbClr val="FFFFFF"/>
                </a:solidFill>
                <a:latin typeface="Montserrat"/>
                <a:ea typeface="Montserrat"/>
                <a:cs typeface="Montserrat"/>
                <a:sym typeface="Montserrat"/>
              </a:rPr>
              <a:t>Platform ini juga menyasar pemilik kos yang ingin memasarkan properti mereka secara digital. Fitur pendaftaran kos, manajemen data, dan promosi menjadi nilai jual utama bagi mereka.</a:t>
            </a:r>
          </a:p>
          <a:p>
            <a:pPr algn="just">
              <a:lnSpc>
                <a:spcPts val="2297"/>
              </a:lnSpc>
            </a:pPr>
            <a:r>
              <a:rPr lang="en-US" sz="1914">
                <a:solidFill>
                  <a:srgbClr val="FFFFFF"/>
                </a:solidFill>
                <a:latin typeface="Montserrat"/>
                <a:ea typeface="Montserrat"/>
                <a:cs typeface="Montserrat"/>
                <a:sym typeface="Montserrat"/>
              </a:rPr>
              <a:t>4. Masyarakat Umum / Perantau</a:t>
            </a:r>
          </a:p>
          <a:p>
            <a:pPr algn="just">
              <a:lnSpc>
                <a:spcPts val="2297"/>
              </a:lnSpc>
            </a:pPr>
            <a:r>
              <a:rPr lang="en-US" sz="1914">
                <a:solidFill>
                  <a:srgbClr val="FFFFFF"/>
                </a:solidFill>
                <a:latin typeface="Montserrat"/>
                <a:ea typeface="Montserrat"/>
                <a:cs typeface="Montserrat"/>
                <a:sym typeface="Montserrat"/>
              </a:rPr>
              <a:t>Individu yang baru pindah ke kota tertentu dan membutuhkan tempat tinggal jangka pendek, termasuk perantau, peserta pelatihan, atau pegawai kontrak, dapat memanfaatkan layanan ini.</a:t>
            </a:r>
          </a:p>
          <a:p>
            <a:pPr algn="just">
              <a:lnSpc>
                <a:spcPts val="2297"/>
              </a:lnSpc>
            </a:pPr>
            <a:r>
              <a:rPr lang="en-US" sz="1914">
                <a:solidFill>
                  <a:srgbClr val="FFFFFF"/>
                </a:solidFill>
                <a:latin typeface="Montserrat"/>
                <a:ea typeface="Montserrat"/>
                <a:cs typeface="Montserrat"/>
                <a:sym typeface="Montserrat"/>
              </a:rPr>
              <a:t>5. Investor Properti</a:t>
            </a:r>
          </a:p>
          <a:p>
            <a:pPr algn="just">
              <a:lnSpc>
                <a:spcPts val="2297"/>
              </a:lnSpc>
            </a:pPr>
            <a:r>
              <a:rPr lang="en-US" sz="1914">
                <a:solidFill>
                  <a:srgbClr val="FFFFFF"/>
                </a:solidFill>
                <a:latin typeface="Montserrat"/>
                <a:ea typeface="Montserrat"/>
                <a:cs typeface="Montserrat"/>
                <a:sym typeface="Montserrat"/>
              </a:rPr>
              <a:t>Para pemilik properti yang ingin menyewakan sebagian ruangnya sebagai sumber pendapatan tambahan juga termasuk dalam target pasar potensial.</a:t>
            </a:r>
          </a:p>
          <a:p>
            <a:pPr algn="just">
              <a:lnSpc>
                <a:spcPts val="2297"/>
              </a:lnSpc>
            </a:pPr>
          </a:p>
        </p:txBody>
      </p:sp>
      <p:sp>
        <p:nvSpPr>
          <p:cNvPr name="Freeform 10" id="10"/>
          <p:cNvSpPr/>
          <p:nvPr/>
        </p:nvSpPr>
        <p:spPr>
          <a:xfrm flipH="true" flipV="false" rot="0">
            <a:off x="16166655" y="1124333"/>
            <a:ext cx="1092645" cy="1050926"/>
          </a:xfrm>
          <a:custGeom>
            <a:avLst/>
            <a:gdLst/>
            <a:ahLst/>
            <a:cxnLst/>
            <a:rect r="r" b="b" t="t" l="l"/>
            <a:pathLst>
              <a:path h="1050926" w="1092645">
                <a:moveTo>
                  <a:pt x="1092645" y="0"/>
                </a:moveTo>
                <a:lnTo>
                  <a:pt x="0" y="0"/>
                </a:lnTo>
                <a:lnTo>
                  <a:pt x="0" y="1050926"/>
                </a:lnTo>
                <a:lnTo>
                  <a:pt x="1092645" y="1050926"/>
                </a:lnTo>
                <a:lnTo>
                  <a:pt x="109264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TextBox 3" id="3"/>
          <p:cNvSpPr txBox="true"/>
          <p:nvPr/>
        </p:nvSpPr>
        <p:spPr>
          <a:xfrm rot="0">
            <a:off x="1888317" y="2310324"/>
            <a:ext cx="7733091" cy="1228724"/>
          </a:xfrm>
          <a:prstGeom prst="rect">
            <a:avLst/>
          </a:prstGeom>
        </p:spPr>
        <p:txBody>
          <a:bodyPr anchor="t" rtlCol="false" tIns="0" lIns="0" bIns="0" rIns="0">
            <a:spAutoFit/>
          </a:bodyPr>
          <a:lstStyle/>
          <a:p>
            <a:pPr algn="l">
              <a:lnSpc>
                <a:spcPts val="8999"/>
              </a:lnSpc>
            </a:pPr>
            <a:r>
              <a:rPr lang="en-US" sz="9999" spc="199">
                <a:solidFill>
                  <a:srgbClr val="004AAD"/>
                </a:solidFill>
                <a:latin typeface="GN- きんいろサンセリフ"/>
                <a:ea typeface="GN- きんいろサンセリフ"/>
                <a:cs typeface="GN- きんいろサンセリフ"/>
                <a:sym typeface="GN- きんいろサンセリフ"/>
              </a:rPr>
              <a:t>TAMPILAN WEB</a:t>
            </a:r>
          </a:p>
        </p:txBody>
      </p:sp>
      <p:grpSp>
        <p:nvGrpSpPr>
          <p:cNvPr name="Group 4" id="4"/>
          <p:cNvGrpSpPr>
            <a:grpSpLocks noChangeAspect="true"/>
          </p:cNvGrpSpPr>
          <p:nvPr/>
        </p:nvGrpSpPr>
        <p:grpSpPr>
          <a:xfrm rot="468596">
            <a:off x="9468566" y="1799183"/>
            <a:ext cx="7146819" cy="5264823"/>
            <a:chOff x="0" y="0"/>
            <a:chExt cx="19050000" cy="14033500"/>
          </a:xfrm>
        </p:grpSpPr>
        <p:sp>
          <p:nvSpPr>
            <p:cNvPr name="Freeform 5" id="5"/>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3"/>
              <a:stretch>
                <a:fillRect l="-17842" t="0" r="-17842" b="0"/>
              </a:stretch>
            </a:blipFill>
          </p:spPr>
        </p:sp>
        <p:sp>
          <p:nvSpPr>
            <p:cNvPr name="Freeform 6" id="6"/>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4"/>
              <a:stretch>
                <a:fillRect l="0" t="0" r="0" b="-281"/>
              </a:stretch>
            </a:blipFill>
          </p:spPr>
        </p:sp>
      </p:grpSp>
      <p:grpSp>
        <p:nvGrpSpPr>
          <p:cNvPr name="Group 7" id="7"/>
          <p:cNvGrpSpPr>
            <a:grpSpLocks noChangeAspect="true"/>
          </p:cNvGrpSpPr>
          <p:nvPr/>
        </p:nvGrpSpPr>
        <p:grpSpPr>
          <a:xfrm rot="-257232">
            <a:off x="5335576" y="4360653"/>
            <a:ext cx="6044978" cy="4453134"/>
            <a:chOff x="0" y="0"/>
            <a:chExt cx="19050000" cy="14033500"/>
          </a:xfrm>
        </p:grpSpPr>
        <p:sp>
          <p:nvSpPr>
            <p:cNvPr name="Freeform 8" id="8"/>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3"/>
              <a:stretch>
                <a:fillRect l="-17842" t="0" r="-17842" b="0"/>
              </a:stretch>
            </a:blipFill>
          </p:spPr>
        </p:sp>
        <p:sp>
          <p:nvSpPr>
            <p:cNvPr name="Freeform 9" id="9"/>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4"/>
              <a:stretch>
                <a:fillRect l="0" t="0" r="0" b="-281"/>
              </a:stretch>
            </a:blipFill>
          </p:spPr>
        </p:sp>
      </p:grpSp>
      <p:sp>
        <p:nvSpPr>
          <p:cNvPr name="Freeform 10" id="10"/>
          <p:cNvSpPr/>
          <p:nvPr/>
        </p:nvSpPr>
        <p:spPr>
          <a:xfrm flipH="false" flipV="false" rot="0">
            <a:off x="1888317" y="5177036"/>
            <a:ext cx="5372128" cy="2820367"/>
          </a:xfrm>
          <a:custGeom>
            <a:avLst/>
            <a:gdLst/>
            <a:ahLst/>
            <a:cxnLst/>
            <a:rect r="r" b="b" t="t" l="l"/>
            <a:pathLst>
              <a:path h="2820367" w="5372128">
                <a:moveTo>
                  <a:pt x="0" y="0"/>
                </a:moveTo>
                <a:lnTo>
                  <a:pt x="5372128" y="0"/>
                </a:lnTo>
                <a:lnTo>
                  <a:pt x="5372128" y="2820367"/>
                </a:lnTo>
                <a:lnTo>
                  <a:pt x="0" y="2820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438041" y="5822180"/>
            <a:ext cx="3152640" cy="3436120"/>
          </a:xfrm>
          <a:custGeom>
            <a:avLst/>
            <a:gdLst/>
            <a:ahLst/>
            <a:cxnLst/>
            <a:rect r="r" b="b" t="t" l="l"/>
            <a:pathLst>
              <a:path h="3436120" w="3152640">
                <a:moveTo>
                  <a:pt x="0" y="0"/>
                </a:moveTo>
                <a:lnTo>
                  <a:pt x="3152640" y="0"/>
                </a:lnTo>
                <a:lnTo>
                  <a:pt x="3152640" y="3436120"/>
                </a:lnTo>
                <a:lnTo>
                  <a:pt x="0" y="3436120"/>
                </a:lnTo>
                <a:lnTo>
                  <a:pt x="0" y="0"/>
                </a:lnTo>
                <a:close/>
              </a:path>
            </a:pathLst>
          </a:custGeom>
          <a:blipFill>
            <a:blip r:embed="rId7"/>
            <a:stretch>
              <a:fillRect l="0" t="0" r="0" b="0"/>
            </a:stretch>
          </a:blipFill>
        </p:spPr>
      </p:sp>
      <p:sp>
        <p:nvSpPr>
          <p:cNvPr name="Freeform 12" id="12"/>
          <p:cNvSpPr/>
          <p:nvPr/>
        </p:nvSpPr>
        <p:spPr>
          <a:xfrm flipH="false" flipV="false" rot="0">
            <a:off x="10759500" y="6790940"/>
            <a:ext cx="1558092" cy="1498601"/>
          </a:xfrm>
          <a:custGeom>
            <a:avLst/>
            <a:gdLst/>
            <a:ahLst/>
            <a:cxnLst/>
            <a:rect r="r" b="b" t="t" l="l"/>
            <a:pathLst>
              <a:path h="1498601" w="1558092">
                <a:moveTo>
                  <a:pt x="0" y="0"/>
                </a:moveTo>
                <a:lnTo>
                  <a:pt x="1558092" y="0"/>
                </a:lnTo>
                <a:lnTo>
                  <a:pt x="1558092" y="1498600"/>
                </a:lnTo>
                <a:lnTo>
                  <a:pt x="0" y="14986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8476148">
            <a:off x="15360446" y="7765591"/>
            <a:ext cx="5855108" cy="5941530"/>
          </a:xfrm>
          <a:custGeom>
            <a:avLst/>
            <a:gdLst/>
            <a:ahLst/>
            <a:cxnLst/>
            <a:rect r="r" b="b" t="t" l="l"/>
            <a:pathLst>
              <a:path h="5941530" w="5855108">
                <a:moveTo>
                  <a:pt x="0" y="0"/>
                </a:moveTo>
                <a:lnTo>
                  <a:pt x="5855108" y="0"/>
                </a:lnTo>
                <a:lnTo>
                  <a:pt x="5855108" y="5941530"/>
                </a:lnTo>
                <a:lnTo>
                  <a:pt x="0" y="59415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8476148">
            <a:off x="-4875790" y="2172735"/>
            <a:ext cx="5855108" cy="5941530"/>
          </a:xfrm>
          <a:custGeom>
            <a:avLst/>
            <a:gdLst/>
            <a:ahLst/>
            <a:cxnLst/>
            <a:rect r="r" b="b" t="t" l="l"/>
            <a:pathLst>
              <a:path h="5941530" w="5855108">
                <a:moveTo>
                  <a:pt x="0" y="0"/>
                </a:moveTo>
                <a:lnTo>
                  <a:pt x="5855108" y="0"/>
                </a:lnTo>
                <a:lnTo>
                  <a:pt x="5855108" y="5941530"/>
                </a:lnTo>
                <a:lnTo>
                  <a:pt x="0" y="59415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0">
            <a:off x="15027588" y="2125897"/>
            <a:ext cx="3152640" cy="3436120"/>
          </a:xfrm>
          <a:custGeom>
            <a:avLst/>
            <a:gdLst/>
            <a:ahLst/>
            <a:cxnLst/>
            <a:rect r="r" b="b" t="t" l="l"/>
            <a:pathLst>
              <a:path h="3436120" w="3152640">
                <a:moveTo>
                  <a:pt x="0" y="0"/>
                </a:moveTo>
                <a:lnTo>
                  <a:pt x="3152640" y="0"/>
                </a:lnTo>
                <a:lnTo>
                  <a:pt x="3152640" y="3436120"/>
                </a:lnTo>
                <a:lnTo>
                  <a:pt x="0" y="3436120"/>
                </a:lnTo>
                <a:lnTo>
                  <a:pt x="0" y="0"/>
                </a:lnTo>
                <a:close/>
              </a:path>
            </a:pathLst>
          </a:custGeom>
          <a:blipFill>
            <a:blip r:embed="rId3"/>
            <a:stretch>
              <a:fillRect l="0" t="0" r="0" b="0"/>
            </a:stretch>
          </a:blipFill>
        </p:spPr>
      </p:sp>
      <p:sp>
        <p:nvSpPr>
          <p:cNvPr name="Freeform 4" id="4"/>
          <p:cNvSpPr/>
          <p:nvPr/>
        </p:nvSpPr>
        <p:spPr>
          <a:xfrm flipH="false" flipV="false" rot="0">
            <a:off x="10759500" y="6790940"/>
            <a:ext cx="1558092" cy="1498601"/>
          </a:xfrm>
          <a:custGeom>
            <a:avLst/>
            <a:gdLst/>
            <a:ahLst/>
            <a:cxnLst/>
            <a:rect r="r" b="b" t="t" l="l"/>
            <a:pathLst>
              <a:path h="1498601" w="1558092">
                <a:moveTo>
                  <a:pt x="0" y="0"/>
                </a:moveTo>
                <a:lnTo>
                  <a:pt x="1558092" y="0"/>
                </a:lnTo>
                <a:lnTo>
                  <a:pt x="1558092" y="1498600"/>
                </a:lnTo>
                <a:lnTo>
                  <a:pt x="0" y="1498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8476148">
            <a:off x="15360446" y="7765591"/>
            <a:ext cx="5855108" cy="5941530"/>
          </a:xfrm>
          <a:custGeom>
            <a:avLst/>
            <a:gdLst/>
            <a:ahLst/>
            <a:cxnLst/>
            <a:rect r="r" b="b" t="t" l="l"/>
            <a:pathLst>
              <a:path h="5941530" w="5855108">
                <a:moveTo>
                  <a:pt x="0" y="0"/>
                </a:moveTo>
                <a:lnTo>
                  <a:pt x="5855108" y="0"/>
                </a:lnTo>
                <a:lnTo>
                  <a:pt x="5855108" y="5941530"/>
                </a:lnTo>
                <a:lnTo>
                  <a:pt x="0" y="59415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8476148">
            <a:off x="-4875790" y="2172735"/>
            <a:ext cx="5855108" cy="5941530"/>
          </a:xfrm>
          <a:custGeom>
            <a:avLst/>
            <a:gdLst/>
            <a:ahLst/>
            <a:cxnLst/>
            <a:rect r="r" b="b" t="t" l="l"/>
            <a:pathLst>
              <a:path h="5941530" w="5855108">
                <a:moveTo>
                  <a:pt x="0" y="0"/>
                </a:moveTo>
                <a:lnTo>
                  <a:pt x="5855108" y="0"/>
                </a:lnTo>
                <a:lnTo>
                  <a:pt x="5855108" y="5941530"/>
                </a:lnTo>
                <a:lnTo>
                  <a:pt x="0" y="59415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9848494" y="1259180"/>
            <a:ext cx="5179094" cy="7768641"/>
          </a:xfrm>
          <a:custGeom>
            <a:avLst/>
            <a:gdLst/>
            <a:ahLst/>
            <a:cxnLst/>
            <a:rect r="r" b="b" t="t" l="l"/>
            <a:pathLst>
              <a:path h="7768641" w="5179094">
                <a:moveTo>
                  <a:pt x="0" y="0"/>
                </a:moveTo>
                <a:lnTo>
                  <a:pt x="5179094" y="0"/>
                </a:lnTo>
                <a:lnTo>
                  <a:pt x="5179094" y="7768640"/>
                </a:lnTo>
                <a:lnTo>
                  <a:pt x="0" y="7768640"/>
                </a:lnTo>
                <a:lnTo>
                  <a:pt x="0" y="0"/>
                </a:lnTo>
                <a:close/>
              </a:path>
            </a:pathLst>
          </a:custGeom>
          <a:blipFill>
            <a:blip r:embed="rId8"/>
            <a:stretch>
              <a:fillRect l="0" t="0" r="0" b="0"/>
            </a:stretch>
          </a:blipFill>
        </p:spPr>
      </p:sp>
      <p:sp>
        <p:nvSpPr>
          <p:cNvPr name="Freeform 8" id="8"/>
          <p:cNvSpPr/>
          <p:nvPr/>
        </p:nvSpPr>
        <p:spPr>
          <a:xfrm flipH="false" flipV="false" rot="0">
            <a:off x="1409601" y="4383591"/>
            <a:ext cx="7941863" cy="4407257"/>
          </a:xfrm>
          <a:custGeom>
            <a:avLst/>
            <a:gdLst/>
            <a:ahLst/>
            <a:cxnLst/>
            <a:rect r="r" b="b" t="t" l="l"/>
            <a:pathLst>
              <a:path h="4407257" w="7941863">
                <a:moveTo>
                  <a:pt x="0" y="0"/>
                </a:moveTo>
                <a:lnTo>
                  <a:pt x="7941862" y="0"/>
                </a:lnTo>
                <a:lnTo>
                  <a:pt x="7941862" y="4407257"/>
                </a:lnTo>
                <a:lnTo>
                  <a:pt x="0" y="4407257"/>
                </a:lnTo>
                <a:lnTo>
                  <a:pt x="0" y="0"/>
                </a:lnTo>
                <a:close/>
              </a:path>
            </a:pathLst>
          </a:custGeom>
          <a:blipFill>
            <a:blip r:embed="rId9"/>
            <a:stretch>
              <a:fillRect l="0" t="0" r="0" b="0"/>
            </a:stretch>
          </a:blipFill>
        </p:spPr>
      </p:sp>
      <p:sp>
        <p:nvSpPr>
          <p:cNvPr name="Freeform 9" id="9"/>
          <p:cNvSpPr/>
          <p:nvPr/>
        </p:nvSpPr>
        <p:spPr>
          <a:xfrm flipH="false" flipV="false" rot="0">
            <a:off x="-491837" y="7848116"/>
            <a:ext cx="5372128" cy="2820367"/>
          </a:xfrm>
          <a:custGeom>
            <a:avLst/>
            <a:gdLst/>
            <a:ahLst/>
            <a:cxnLst/>
            <a:rect r="r" b="b" t="t" l="l"/>
            <a:pathLst>
              <a:path h="2820367" w="5372128">
                <a:moveTo>
                  <a:pt x="0" y="0"/>
                </a:moveTo>
                <a:lnTo>
                  <a:pt x="5372128" y="0"/>
                </a:lnTo>
                <a:lnTo>
                  <a:pt x="5372128" y="2820368"/>
                </a:lnTo>
                <a:lnTo>
                  <a:pt x="0" y="28203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617064" y="645259"/>
            <a:ext cx="7526936" cy="3495674"/>
          </a:xfrm>
          <a:prstGeom prst="rect">
            <a:avLst/>
          </a:prstGeom>
        </p:spPr>
        <p:txBody>
          <a:bodyPr anchor="t" rtlCol="false" tIns="0" lIns="0" bIns="0" rIns="0">
            <a:spAutoFit/>
          </a:bodyPr>
          <a:lstStyle/>
          <a:p>
            <a:pPr algn="l">
              <a:lnSpc>
                <a:spcPts val="8999"/>
              </a:lnSpc>
            </a:pPr>
            <a:r>
              <a:rPr lang="en-US" sz="9999" spc="199">
                <a:solidFill>
                  <a:srgbClr val="004AAD"/>
                </a:solidFill>
                <a:latin typeface="GN- きんいろサンセリフ"/>
                <a:ea typeface="GN- きんいろサンセリフ"/>
                <a:cs typeface="GN- きんいろサンセリフ"/>
                <a:sym typeface="GN- きんいろサンセリフ"/>
              </a:rPr>
              <a:t>FLOWCHART DAN USE CASE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0">
            <a:off x="15027588" y="2125897"/>
            <a:ext cx="3152640" cy="3436120"/>
          </a:xfrm>
          <a:custGeom>
            <a:avLst/>
            <a:gdLst/>
            <a:ahLst/>
            <a:cxnLst/>
            <a:rect r="r" b="b" t="t" l="l"/>
            <a:pathLst>
              <a:path h="3436120" w="3152640">
                <a:moveTo>
                  <a:pt x="0" y="0"/>
                </a:moveTo>
                <a:lnTo>
                  <a:pt x="3152640" y="0"/>
                </a:lnTo>
                <a:lnTo>
                  <a:pt x="3152640" y="3436120"/>
                </a:lnTo>
                <a:lnTo>
                  <a:pt x="0" y="3436120"/>
                </a:lnTo>
                <a:lnTo>
                  <a:pt x="0" y="0"/>
                </a:lnTo>
                <a:close/>
              </a:path>
            </a:pathLst>
          </a:custGeom>
          <a:blipFill>
            <a:blip r:embed="rId3"/>
            <a:stretch>
              <a:fillRect l="0" t="0" r="0" b="0"/>
            </a:stretch>
          </a:blipFill>
        </p:spPr>
      </p:sp>
      <p:sp>
        <p:nvSpPr>
          <p:cNvPr name="Freeform 4" id="4"/>
          <p:cNvSpPr/>
          <p:nvPr/>
        </p:nvSpPr>
        <p:spPr>
          <a:xfrm flipH="false" flipV="false" rot="0">
            <a:off x="6307875" y="6349516"/>
            <a:ext cx="1558092" cy="1498601"/>
          </a:xfrm>
          <a:custGeom>
            <a:avLst/>
            <a:gdLst/>
            <a:ahLst/>
            <a:cxnLst/>
            <a:rect r="r" b="b" t="t" l="l"/>
            <a:pathLst>
              <a:path h="1498601" w="1558092">
                <a:moveTo>
                  <a:pt x="0" y="0"/>
                </a:moveTo>
                <a:lnTo>
                  <a:pt x="1558092" y="0"/>
                </a:lnTo>
                <a:lnTo>
                  <a:pt x="1558092" y="1498600"/>
                </a:lnTo>
                <a:lnTo>
                  <a:pt x="0" y="1498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8476148">
            <a:off x="15360446" y="7765591"/>
            <a:ext cx="5855108" cy="5941530"/>
          </a:xfrm>
          <a:custGeom>
            <a:avLst/>
            <a:gdLst/>
            <a:ahLst/>
            <a:cxnLst/>
            <a:rect r="r" b="b" t="t" l="l"/>
            <a:pathLst>
              <a:path h="5941530" w="5855108">
                <a:moveTo>
                  <a:pt x="0" y="0"/>
                </a:moveTo>
                <a:lnTo>
                  <a:pt x="5855108" y="0"/>
                </a:lnTo>
                <a:lnTo>
                  <a:pt x="5855108" y="5941530"/>
                </a:lnTo>
                <a:lnTo>
                  <a:pt x="0" y="59415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8476148">
            <a:off x="-4875790" y="2172735"/>
            <a:ext cx="5855108" cy="5941530"/>
          </a:xfrm>
          <a:custGeom>
            <a:avLst/>
            <a:gdLst/>
            <a:ahLst/>
            <a:cxnLst/>
            <a:rect r="r" b="b" t="t" l="l"/>
            <a:pathLst>
              <a:path h="5941530" w="5855108">
                <a:moveTo>
                  <a:pt x="0" y="0"/>
                </a:moveTo>
                <a:lnTo>
                  <a:pt x="5855108" y="0"/>
                </a:lnTo>
                <a:lnTo>
                  <a:pt x="5855108" y="5941530"/>
                </a:lnTo>
                <a:lnTo>
                  <a:pt x="0" y="59415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91837" y="7848116"/>
            <a:ext cx="5372128" cy="2820367"/>
          </a:xfrm>
          <a:custGeom>
            <a:avLst/>
            <a:gdLst/>
            <a:ahLst/>
            <a:cxnLst/>
            <a:rect r="r" b="b" t="t" l="l"/>
            <a:pathLst>
              <a:path h="2820367" w="5372128">
                <a:moveTo>
                  <a:pt x="0" y="0"/>
                </a:moveTo>
                <a:lnTo>
                  <a:pt x="5372128" y="0"/>
                </a:lnTo>
                <a:lnTo>
                  <a:pt x="5372128" y="2820368"/>
                </a:lnTo>
                <a:lnTo>
                  <a:pt x="0" y="2820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8332692" y="1087481"/>
            <a:ext cx="5349381" cy="8205155"/>
          </a:xfrm>
          <a:custGeom>
            <a:avLst/>
            <a:gdLst/>
            <a:ahLst/>
            <a:cxnLst/>
            <a:rect r="r" b="b" t="t" l="l"/>
            <a:pathLst>
              <a:path h="8205155" w="5349381">
                <a:moveTo>
                  <a:pt x="0" y="0"/>
                </a:moveTo>
                <a:lnTo>
                  <a:pt x="5349381" y="0"/>
                </a:lnTo>
                <a:lnTo>
                  <a:pt x="5349381" y="8205156"/>
                </a:lnTo>
                <a:lnTo>
                  <a:pt x="0" y="8205156"/>
                </a:lnTo>
                <a:lnTo>
                  <a:pt x="0" y="0"/>
                </a:lnTo>
                <a:close/>
              </a:path>
            </a:pathLst>
          </a:custGeom>
          <a:blipFill>
            <a:blip r:embed="rId10"/>
            <a:stretch>
              <a:fillRect l="0" t="0" r="0" b="0"/>
            </a:stretch>
          </a:blipFill>
        </p:spPr>
      </p:sp>
      <p:sp>
        <p:nvSpPr>
          <p:cNvPr name="TextBox 9" id="9"/>
          <p:cNvSpPr txBox="true"/>
          <p:nvPr/>
        </p:nvSpPr>
        <p:spPr>
          <a:xfrm rot="0">
            <a:off x="1617064" y="645259"/>
            <a:ext cx="7526936" cy="3495674"/>
          </a:xfrm>
          <a:prstGeom prst="rect">
            <a:avLst/>
          </a:prstGeom>
        </p:spPr>
        <p:txBody>
          <a:bodyPr anchor="t" rtlCol="false" tIns="0" lIns="0" bIns="0" rIns="0">
            <a:spAutoFit/>
          </a:bodyPr>
          <a:lstStyle/>
          <a:p>
            <a:pPr algn="l">
              <a:lnSpc>
                <a:spcPts val="8999"/>
              </a:lnSpc>
            </a:pPr>
            <a:r>
              <a:rPr lang="en-US" sz="9999" spc="199">
                <a:solidFill>
                  <a:srgbClr val="004AAD"/>
                </a:solidFill>
                <a:latin typeface="GN- きんいろサンセリフ"/>
                <a:ea typeface="GN- きんいろサンセリフ"/>
                <a:cs typeface="GN- きんいろサンセリフ"/>
                <a:sym typeface="GN- きんいろサンセリフ"/>
              </a:rPr>
              <a:t>FLOWCHART YANG SUDAH DIPERBAIKI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true" flipV="false" rot="0">
            <a:off x="-932475" y="617708"/>
            <a:ext cx="5513413" cy="2887650"/>
          </a:xfrm>
          <a:custGeom>
            <a:avLst/>
            <a:gdLst/>
            <a:ahLst/>
            <a:cxnLst/>
            <a:rect r="r" b="b" t="t" l="l"/>
            <a:pathLst>
              <a:path h="2887650" w="5513413">
                <a:moveTo>
                  <a:pt x="5513413" y="0"/>
                </a:moveTo>
                <a:lnTo>
                  <a:pt x="0" y="0"/>
                </a:lnTo>
                <a:lnTo>
                  <a:pt x="0" y="2887650"/>
                </a:lnTo>
                <a:lnTo>
                  <a:pt x="5513413" y="2887650"/>
                </a:lnTo>
                <a:lnTo>
                  <a:pt x="55134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a:grpSpLocks noChangeAspect="true"/>
          </p:cNvGrpSpPr>
          <p:nvPr/>
        </p:nvGrpSpPr>
        <p:grpSpPr>
          <a:xfrm rot="-381511">
            <a:off x="4965157" y="5768632"/>
            <a:ext cx="7773212" cy="5726266"/>
            <a:chOff x="0" y="0"/>
            <a:chExt cx="19050000" cy="14033500"/>
          </a:xfrm>
        </p:grpSpPr>
        <p:sp>
          <p:nvSpPr>
            <p:cNvPr name="Freeform 5" id="5"/>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5"/>
              <a:stretch>
                <a:fillRect l="0" t="-60959" r="0" b="-60959"/>
              </a:stretch>
            </a:blipFill>
          </p:spPr>
        </p:sp>
        <p:sp>
          <p:nvSpPr>
            <p:cNvPr name="Freeform 6" id="6"/>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6"/>
              <a:stretch>
                <a:fillRect l="0" t="0" r="0" b="-281"/>
              </a:stretch>
            </a:blipFill>
          </p:spPr>
        </p:sp>
      </p:grpSp>
      <p:grpSp>
        <p:nvGrpSpPr>
          <p:cNvPr name="Group 7" id="7"/>
          <p:cNvGrpSpPr>
            <a:grpSpLocks noChangeAspect="true"/>
          </p:cNvGrpSpPr>
          <p:nvPr/>
        </p:nvGrpSpPr>
        <p:grpSpPr>
          <a:xfrm rot="455362">
            <a:off x="-1725102" y="6643624"/>
            <a:ext cx="7098668" cy="5229352"/>
            <a:chOff x="0" y="0"/>
            <a:chExt cx="19050000" cy="14033500"/>
          </a:xfrm>
        </p:grpSpPr>
        <p:sp>
          <p:nvSpPr>
            <p:cNvPr name="Freeform 8" id="8"/>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7"/>
              <a:stretch>
                <a:fillRect l="0" t="-57712" r="0" b="-57712"/>
              </a:stretch>
            </a:blipFill>
          </p:spPr>
        </p:sp>
        <p:sp>
          <p:nvSpPr>
            <p:cNvPr name="Freeform 9" id="9"/>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6"/>
              <a:stretch>
                <a:fillRect l="0" t="0" r="0" b="-281"/>
              </a:stretch>
            </a:blipFill>
          </p:spPr>
        </p:sp>
      </p:grpSp>
      <p:sp>
        <p:nvSpPr>
          <p:cNvPr name="Freeform 10" id="10"/>
          <p:cNvSpPr/>
          <p:nvPr/>
        </p:nvSpPr>
        <p:spPr>
          <a:xfrm flipH="false" flipV="false" rot="0">
            <a:off x="15427897" y="1028700"/>
            <a:ext cx="1558092" cy="1498601"/>
          </a:xfrm>
          <a:custGeom>
            <a:avLst/>
            <a:gdLst/>
            <a:ahLst/>
            <a:cxnLst/>
            <a:rect r="r" b="b" t="t" l="l"/>
            <a:pathLst>
              <a:path h="1498601" w="1558092">
                <a:moveTo>
                  <a:pt x="0" y="0"/>
                </a:moveTo>
                <a:lnTo>
                  <a:pt x="1558092" y="0"/>
                </a:lnTo>
                <a:lnTo>
                  <a:pt x="1558092" y="1498601"/>
                </a:lnTo>
                <a:lnTo>
                  <a:pt x="0" y="14986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975298" y="2409442"/>
            <a:ext cx="4568004" cy="2946363"/>
          </a:xfrm>
          <a:custGeom>
            <a:avLst/>
            <a:gdLst/>
            <a:ahLst/>
            <a:cxnLst/>
            <a:rect r="r" b="b" t="t" l="l"/>
            <a:pathLst>
              <a:path h="2946363" w="4568004">
                <a:moveTo>
                  <a:pt x="0" y="0"/>
                </a:moveTo>
                <a:lnTo>
                  <a:pt x="4568004" y="0"/>
                </a:lnTo>
                <a:lnTo>
                  <a:pt x="4568004" y="2946363"/>
                </a:lnTo>
                <a:lnTo>
                  <a:pt x="0" y="29463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16583931" y="8381645"/>
            <a:ext cx="967983" cy="931023"/>
          </a:xfrm>
          <a:custGeom>
            <a:avLst/>
            <a:gdLst/>
            <a:ahLst/>
            <a:cxnLst/>
            <a:rect r="r" b="b" t="t" l="l"/>
            <a:pathLst>
              <a:path h="931023" w="967983">
                <a:moveTo>
                  <a:pt x="967983" y="0"/>
                </a:moveTo>
                <a:lnTo>
                  <a:pt x="0" y="0"/>
                </a:lnTo>
                <a:lnTo>
                  <a:pt x="0" y="931023"/>
                </a:lnTo>
                <a:lnTo>
                  <a:pt x="967983" y="931023"/>
                </a:lnTo>
                <a:lnTo>
                  <a:pt x="967983"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a:grpSpLocks noChangeAspect="true"/>
          </p:cNvGrpSpPr>
          <p:nvPr/>
        </p:nvGrpSpPr>
        <p:grpSpPr>
          <a:xfrm rot="455392">
            <a:off x="11878563" y="6017089"/>
            <a:ext cx="7098668" cy="5229352"/>
            <a:chOff x="0" y="0"/>
            <a:chExt cx="19050000" cy="14033500"/>
          </a:xfrm>
        </p:grpSpPr>
        <p:sp>
          <p:nvSpPr>
            <p:cNvPr name="Freeform 14" id="14"/>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12"/>
              <a:stretch>
                <a:fillRect l="0" t="-57272" r="0" b="-57272"/>
              </a:stretch>
            </a:blipFill>
          </p:spPr>
        </p:sp>
        <p:sp>
          <p:nvSpPr>
            <p:cNvPr name="Freeform 15" id="15"/>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6"/>
              <a:stretch>
                <a:fillRect l="0" t="0" r="0" b="-281"/>
              </a:stretch>
            </a:blipFill>
          </p:spPr>
        </p:sp>
      </p:grpSp>
      <p:sp>
        <p:nvSpPr>
          <p:cNvPr name="Freeform 16" id="16"/>
          <p:cNvSpPr/>
          <p:nvPr/>
        </p:nvSpPr>
        <p:spPr>
          <a:xfrm flipH="false" flipV="false" rot="0">
            <a:off x="1581295" y="3991133"/>
            <a:ext cx="1558092" cy="1498601"/>
          </a:xfrm>
          <a:custGeom>
            <a:avLst/>
            <a:gdLst/>
            <a:ahLst/>
            <a:cxnLst/>
            <a:rect r="r" b="b" t="t" l="l"/>
            <a:pathLst>
              <a:path h="1498601" w="1558092">
                <a:moveTo>
                  <a:pt x="0" y="0"/>
                </a:moveTo>
                <a:lnTo>
                  <a:pt x="1558092" y="0"/>
                </a:lnTo>
                <a:lnTo>
                  <a:pt x="1558092" y="1498601"/>
                </a:lnTo>
                <a:lnTo>
                  <a:pt x="0" y="14986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4177018" y="1122232"/>
            <a:ext cx="9933965" cy="2362199"/>
          </a:xfrm>
          <a:prstGeom prst="rect">
            <a:avLst/>
          </a:prstGeom>
        </p:spPr>
        <p:txBody>
          <a:bodyPr anchor="t" rtlCol="false" tIns="0" lIns="0" bIns="0" rIns="0">
            <a:spAutoFit/>
          </a:bodyPr>
          <a:lstStyle/>
          <a:p>
            <a:pPr algn="ctr">
              <a:lnSpc>
                <a:spcPts val="8999"/>
              </a:lnSpc>
            </a:pPr>
            <a:r>
              <a:rPr lang="en-US" sz="9999" spc="199">
                <a:solidFill>
                  <a:srgbClr val="004AAD"/>
                </a:solidFill>
                <a:latin typeface="GN- きんいろサンセリフ"/>
                <a:ea typeface="GN- きんいろサンセリフ"/>
                <a:cs typeface="GN- きんいろサンセリフ"/>
                <a:sym typeface="GN- きんいろサンセリフ"/>
              </a:rPr>
              <a:t>POTRET 3 CONTOH KOST-AN</a:t>
            </a:r>
          </a:p>
        </p:txBody>
      </p:sp>
      <p:sp>
        <p:nvSpPr>
          <p:cNvPr name="TextBox 18" id="18"/>
          <p:cNvSpPr txBox="true"/>
          <p:nvPr/>
        </p:nvSpPr>
        <p:spPr>
          <a:xfrm rot="0">
            <a:off x="4177018" y="3505358"/>
            <a:ext cx="10245536" cy="971550"/>
          </a:xfrm>
          <a:prstGeom prst="rect">
            <a:avLst/>
          </a:prstGeom>
        </p:spPr>
        <p:txBody>
          <a:bodyPr anchor="t" rtlCol="false" tIns="0" lIns="0" bIns="0" rIns="0">
            <a:spAutoFit/>
          </a:bodyPr>
          <a:lstStyle/>
          <a:p>
            <a:pPr algn="ctr">
              <a:lnSpc>
                <a:spcPts val="3840"/>
              </a:lnSpc>
            </a:pPr>
            <a:r>
              <a:rPr lang="en-US" sz="3200">
                <a:solidFill>
                  <a:srgbClr val="090001"/>
                </a:solidFill>
                <a:latin typeface="Montserrat"/>
                <a:ea typeface="Montserrat"/>
                <a:cs typeface="Montserrat"/>
                <a:sym typeface="Montserrat"/>
              </a:rPr>
              <a:t>Ini adalah 3 contoh kost-an yang saya masukkan dalam web yg saya buat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grpSp>
        <p:nvGrpSpPr>
          <p:cNvPr name="Group 3" id="3"/>
          <p:cNvGrpSpPr/>
          <p:nvPr/>
        </p:nvGrpSpPr>
        <p:grpSpPr>
          <a:xfrm rot="0">
            <a:off x="1028700" y="4042073"/>
            <a:ext cx="16230600" cy="7341532"/>
            <a:chOff x="0" y="0"/>
            <a:chExt cx="4274726" cy="1933572"/>
          </a:xfrm>
        </p:grpSpPr>
        <p:sp>
          <p:nvSpPr>
            <p:cNvPr name="Freeform 4" id="4"/>
            <p:cNvSpPr/>
            <p:nvPr/>
          </p:nvSpPr>
          <p:spPr>
            <a:xfrm flipH="false" flipV="false" rot="0">
              <a:off x="0" y="0"/>
              <a:ext cx="4274726" cy="1933572"/>
            </a:xfrm>
            <a:custGeom>
              <a:avLst/>
              <a:gdLst/>
              <a:ahLst/>
              <a:cxnLst/>
              <a:rect r="r" b="b" t="t" l="l"/>
              <a:pathLst>
                <a:path h="1933572" w="4274726">
                  <a:moveTo>
                    <a:pt x="14787" y="0"/>
                  </a:moveTo>
                  <a:lnTo>
                    <a:pt x="4259939" y="0"/>
                  </a:lnTo>
                  <a:cubicBezTo>
                    <a:pt x="4268106" y="0"/>
                    <a:pt x="4274726" y="6620"/>
                    <a:pt x="4274726" y="14787"/>
                  </a:cubicBezTo>
                  <a:lnTo>
                    <a:pt x="4274726" y="1918785"/>
                  </a:lnTo>
                  <a:cubicBezTo>
                    <a:pt x="4274726" y="1922707"/>
                    <a:pt x="4273168" y="1926468"/>
                    <a:pt x="4270395" y="1929241"/>
                  </a:cubicBezTo>
                  <a:cubicBezTo>
                    <a:pt x="4267622" y="1932014"/>
                    <a:pt x="4263861" y="1933572"/>
                    <a:pt x="4259939" y="1933572"/>
                  </a:cubicBezTo>
                  <a:lnTo>
                    <a:pt x="14787" y="1933572"/>
                  </a:lnTo>
                  <a:cubicBezTo>
                    <a:pt x="6620" y="1933572"/>
                    <a:pt x="0" y="1926952"/>
                    <a:pt x="0" y="1918785"/>
                  </a:cubicBezTo>
                  <a:lnTo>
                    <a:pt x="0" y="14787"/>
                  </a:lnTo>
                  <a:cubicBezTo>
                    <a:pt x="0" y="6620"/>
                    <a:pt x="6620" y="0"/>
                    <a:pt x="14787" y="0"/>
                  </a:cubicBezTo>
                  <a:close/>
                </a:path>
              </a:pathLst>
            </a:custGeom>
            <a:solidFill>
              <a:srgbClr val="004AAD"/>
            </a:solidFill>
          </p:spPr>
        </p:sp>
        <p:sp>
          <p:nvSpPr>
            <p:cNvPr name="TextBox 5" id="5"/>
            <p:cNvSpPr txBox="true"/>
            <p:nvPr/>
          </p:nvSpPr>
          <p:spPr>
            <a:xfrm>
              <a:off x="0" y="-38100"/>
              <a:ext cx="4274726" cy="197167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47065" y="1773915"/>
            <a:ext cx="5660779" cy="2964833"/>
          </a:xfrm>
          <a:custGeom>
            <a:avLst/>
            <a:gdLst/>
            <a:ahLst/>
            <a:cxnLst/>
            <a:rect r="r" b="b" t="t" l="l"/>
            <a:pathLst>
              <a:path h="2964833" w="5660779">
                <a:moveTo>
                  <a:pt x="0" y="0"/>
                </a:moveTo>
                <a:lnTo>
                  <a:pt x="5660779" y="0"/>
                </a:lnTo>
                <a:lnTo>
                  <a:pt x="5660779" y="2964833"/>
                </a:lnTo>
                <a:lnTo>
                  <a:pt x="0" y="29648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480254" y="6963538"/>
            <a:ext cx="1558092" cy="1498601"/>
          </a:xfrm>
          <a:custGeom>
            <a:avLst/>
            <a:gdLst/>
            <a:ahLst/>
            <a:cxnLst/>
            <a:rect r="r" b="b" t="t" l="l"/>
            <a:pathLst>
              <a:path h="1498601" w="1558092">
                <a:moveTo>
                  <a:pt x="0" y="0"/>
                </a:moveTo>
                <a:lnTo>
                  <a:pt x="1558092" y="0"/>
                </a:lnTo>
                <a:lnTo>
                  <a:pt x="1558092" y="1498601"/>
                </a:lnTo>
                <a:lnTo>
                  <a:pt x="0" y="14986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695781" y="1028700"/>
            <a:ext cx="7328767" cy="5386643"/>
          </a:xfrm>
          <a:custGeom>
            <a:avLst/>
            <a:gdLst/>
            <a:ahLst/>
            <a:cxnLst/>
            <a:rect r="r" b="b" t="t" l="l"/>
            <a:pathLst>
              <a:path h="5386643" w="7328767">
                <a:moveTo>
                  <a:pt x="0" y="0"/>
                </a:moveTo>
                <a:lnTo>
                  <a:pt x="7328767" y="0"/>
                </a:lnTo>
                <a:lnTo>
                  <a:pt x="7328767" y="5386643"/>
                </a:lnTo>
                <a:lnTo>
                  <a:pt x="0" y="5386643"/>
                </a:lnTo>
                <a:lnTo>
                  <a:pt x="0" y="0"/>
                </a:lnTo>
                <a:close/>
              </a:path>
            </a:pathLst>
          </a:custGeom>
          <a:blipFill>
            <a:blip r:embed="rId7"/>
            <a:stretch>
              <a:fillRect l="0" t="0" r="0" b="0"/>
            </a:stretch>
          </a:blipFill>
        </p:spPr>
      </p:sp>
      <p:sp>
        <p:nvSpPr>
          <p:cNvPr name="Freeform 9" id="9"/>
          <p:cNvSpPr/>
          <p:nvPr/>
        </p:nvSpPr>
        <p:spPr>
          <a:xfrm flipH="false" flipV="false" rot="0">
            <a:off x="14047602" y="8462139"/>
            <a:ext cx="5072657" cy="3271864"/>
          </a:xfrm>
          <a:custGeom>
            <a:avLst/>
            <a:gdLst/>
            <a:ahLst/>
            <a:cxnLst/>
            <a:rect r="r" b="b" t="t" l="l"/>
            <a:pathLst>
              <a:path h="3271864" w="5072657">
                <a:moveTo>
                  <a:pt x="0" y="0"/>
                </a:moveTo>
                <a:lnTo>
                  <a:pt x="5072658" y="0"/>
                </a:lnTo>
                <a:lnTo>
                  <a:pt x="5072658" y="3271864"/>
                </a:lnTo>
                <a:lnTo>
                  <a:pt x="0" y="32718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5908562" y="1124333"/>
            <a:ext cx="1350738" cy="1299164"/>
          </a:xfrm>
          <a:custGeom>
            <a:avLst/>
            <a:gdLst/>
            <a:ahLst/>
            <a:cxnLst/>
            <a:rect r="r" b="b" t="t" l="l"/>
            <a:pathLst>
              <a:path h="1299164" w="1350738">
                <a:moveTo>
                  <a:pt x="1350738" y="0"/>
                </a:moveTo>
                <a:lnTo>
                  <a:pt x="0" y="0"/>
                </a:lnTo>
                <a:lnTo>
                  <a:pt x="0" y="1299164"/>
                </a:lnTo>
                <a:lnTo>
                  <a:pt x="1350738" y="1299164"/>
                </a:lnTo>
                <a:lnTo>
                  <a:pt x="135073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410909" y="4672013"/>
            <a:ext cx="7733091" cy="1228724"/>
          </a:xfrm>
          <a:prstGeom prst="rect">
            <a:avLst/>
          </a:prstGeom>
        </p:spPr>
        <p:txBody>
          <a:bodyPr anchor="t" rtlCol="false" tIns="0" lIns="0" bIns="0" rIns="0">
            <a:spAutoFit/>
          </a:bodyPr>
          <a:lstStyle/>
          <a:p>
            <a:pPr algn="l">
              <a:lnSpc>
                <a:spcPts val="8999"/>
              </a:lnSpc>
            </a:pPr>
            <a:r>
              <a:rPr lang="en-US" sz="9999" spc="199">
                <a:solidFill>
                  <a:srgbClr val="FFFFFF"/>
                </a:solidFill>
                <a:latin typeface="GN- きんいろサンセリフ"/>
                <a:ea typeface="GN- きんいろサンセリフ"/>
                <a:cs typeface="GN- きんいろサンセリフ"/>
                <a:sym typeface="GN- きんいろサンセリフ"/>
              </a:rPr>
              <a:t>KESIMPULAN</a:t>
            </a:r>
          </a:p>
        </p:txBody>
      </p:sp>
      <p:sp>
        <p:nvSpPr>
          <p:cNvPr name="TextBox 12" id="12"/>
          <p:cNvSpPr txBox="true"/>
          <p:nvPr/>
        </p:nvSpPr>
        <p:spPr>
          <a:xfrm rot="0">
            <a:off x="1028700" y="5691105"/>
            <a:ext cx="16230600" cy="4043468"/>
          </a:xfrm>
          <a:prstGeom prst="rect">
            <a:avLst/>
          </a:prstGeom>
        </p:spPr>
        <p:txBody>
          <a:bodyPr anchor="t" rtlCol="false" tIns="0" lIns="0" bIns="0" rIns="0">
            <a:spAutoFit/>
          </a:bodyPr>
          <a:lstStyle/>
          <a:p>
            <a:pPr algn="l" marL="575071" indent="-287536" lvl="1">
              <a:lnSpc>
                <a:spcPts val="3196"/>
              </a:lnSpc>
              <a:buFont typeface="Arial"/>
              <a:buChar char="•"/>
            </a:pPr>
            <a:r>
              <a:rPr lang="en-US" sz="2663">
                <a:solidFill>
                  <a:srgbClr val="FFFFFF"/>
                </a:solidFill>
                <a:latin typeface="Montserrat"/>
                <a:ea typeface="Montserrat"/>
                <a:cs typeface="Montserrat"/>
                <a:sym typeface="Montserrat"/>
              </a:rPr>
              <a:t>JuraganKost hadir sebagai solusi digital modern dalam menjawab tantangan pencarian dan penyewaan kos di era teknologi. Dengan memanfaatkan antarmuka yang sederhana, fitur-fitur lengkap, serta integrasi lokasi dan ulasan, platform ini memberikan kemudahan bagi pencari kos dan pemilik kos dalam bertransaksi secara efisien dan transparan.</a:t>
            </a:r>
          </a:p>
          <a:p>
            <a:pPr algn="l" marL="575071" indent="-287536" lvl="1">
              <a:lnSpc>
                <a:spcPts val="3196"/>
              </a:lnSpc>
              <a:buFont typeface="Arial"/>
              <a:buChar char="•"/>
            </a:pPr>
            <a:r>
              <a:rPr lang="en-US" sz="2663">
                <a:solidFill>
                  <a:srgbClr val="FFFFFF"/>
                </a:solidFill>
                <a:latin typeface="Montserrat"/>
                <a:ea typeface="Montserrat"/>
                <a:cs typeface="Montserrat"/>
                <a:sym typeface="Montserrat"/>
              </a:rPr>
              <a:t>Proye</a:t>
            </a:r>
            <a:r>
              <a:rPr lang="en-US" sz="2663">
                <a:solidFill>
                  <a:srgbClr val="FFFFFF"/>
                </a:solidFill>
                <a:latin typeface="Montserrat"/>
                <a:ea typeface="Montserrat"/>
                <a:cs typeface="Montserrat"/>
                <a:sym typeface="Montserrat"/>
              </a:rPr>
              <a:t>k ini diharapkan tidak hanya membantu pengguna menemukan tempat tinggal dengan mudah, tetapi juga memberikan peluang bagi pemilik kos untuk memperluas jangkauan pasar mereka secara online.</a:t>
            </a:r>
          </a:p>
          <a:p>
            <a:pPr algn="l" marL="575071" indent="-287536" lvl="1">
              <a:lnSpc>
                <a:spcPts val="3196"/>
              </a:lnSpc>
              <a:buFont typeface="Arial"/>
              <a:buChar char="•"/>
            </a:pPr>
            <a:r>
              <a:rPr lang="en-US" sz="2663">
                <a:solidFill>
                  <a:srgbClr val="FFFFFF"/>
                </a:solidFill>
                <a:latin typeface="Montserrat"/>
                <a:ea typeface="Montserrat"/>
                <a:cs typeface="Montserrat"/>
                <a:sym typeface="Montserrat"/>
              </a:rPr>
              <a:t>Melalui sistem yang terstruktur, ramah pengguna, dan berbasis web, JuraganKost siap menjadi jembatan antara kebutuhan hunian dan penyedia tempat tinggal di seluruh Indonesia.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25666" t="0" r="-25666" b="0"/>
            </a:stretch>
          </a:blipFill>
        </p:spPr>
      </p:sp>
      <p:sp>
        <p:nvSpPr>
          <p:cNvPr name="Freeform 3" id="3"/>
          <p:cNvSpPr/>
          <p:nvPr/>
        </p:nvSpPr>
        <p:spPr>
          <a:xfrm flipH="false" flipV="false" rot="-8476148">
            <a:off x="8538889" y="7361902"/>
            <a:ext cx="11022828" cy="11185527"/>
          </a:xfrm>
          <a:custGeom>
            <a:avLst/>
            <a:gdLst/>
            <a:ahLst/>
            <a:cxnLst/>
            <a:rect r="r" b="b" t="t" l="l"/>
            <a:pathLst>
              <a:path h="11185527" w="11022828">
                <a:moveTo>
                  <a:pt x="0" y="0"/>
                </a:moveTo>
                <a:lnTo>
                  <a:pt x="11022828" y="0"/>
                </a:lnTo>
                <a:lnTo>
                  <a:pt x="11022828" y="11185527"/>
                </a:lnTo>
                <a:lnTo>
                  <a:pt x="0" y="11185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889244" y="6777315"/>
            <a:ext cx="7709906" cy="4038063"/>
          </a:xfrm>
          <a:custGeom>
            <a:avLst/>
            <a:gdLst/>
            <a:ahLst/>
            <a:cxnLst/>
            <a:rect r="r" b="b" t="t" l="l"/>
            <a:pathLst>
              <a:path h="4038063" w="7709906">
                <a:moveTo>
                  <a:pt x="0" y="0"/>
                </a:moveTo>
                <a:lnTo>
                  <a:pt x="7709906" y="0"/>
                </a:lnTo>
                <a:lnTo>
                  <a:pt x="7709906" y="4038064"/>
                </a:lnTo>
                <a:lnTo>
                  <a:pt x="0" y="40380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6815181">
            <a:off x="-7635836" y="-8188163"/>
            <a:ext cx="11022828" cy="11185527"/>
          </a:xfrm>
          <a:custGeom>
            <a:avLst/>
            <a:gdLst/>
            <a:ahLst/>
            <a:cxnLst/>
            <a:rect r="r" b="b" t="t" l="l"/>
            <a:pathLst>
              <a:path h="11185527" w="11022828">
                <a:moveTo>
                  <a:pt x="0" y="0"/>
                </a:moveTo>
                <a:lnTo>
                  <a:pt x="11022828" y="0"/>
                </a:lnTo>
                <a:lnTo>
                  <a:pt x="11022828" y="11185527"/>
                </a:lnTo>
                <a:lnTo>
                  <a:pt x="0" y="11185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882145" y="-652481"/>
            <a:ext cx="6404497" cy="3362361"/>
          </a:xfrm>
          <a:custGeom>
            <a:avLst/>
            <a:gdLst/>
            <a:ahLst/>
            <a:cxnLst/>
            <a:rect r="r" b="b" t="t" l="l"/>
            <a:pathLst>
              <a:path h="3362361" w="6404497">
                <a:moveTo>
                  <a:pt x="0" y="0"/>
                </a:moveTo>
                <a:lnTo>
                  <a:pt x="6404498" y="0"/>
                </a:lnTo>
                <a:lnTo>
                  <a:pt x="6404498" y="3362362"/>
                </a:lnTo>
                <a:lnTo>
                  <a:pt x="0" y="33623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2334834">
            <a:off x="10857003" y="3395269"/>
            <a:ext cx="1010383" cy="971804"/>
          </a:xfrm>
          <a:custGeom>
            <a:avLst/>
            <a:gdLst/>
            <a:ahLst/>
            <a:cxnLst/>
            <a:rect r="r" b="b" t="t" l="l"/>
            <a:pathLst>
              <a:path h="971804" w="1010383">
                <a:moveTo>
                  <a:pt x="0" y="0"/>
                </a:moveTo>
                <a:lnTo>
                  <a:pt x="1010382" y="0"/>
                </a:lnTo>
                <a:lnTo>
                  <a:pt x="1010382" y="971804"/>
                </a:lnTo>
                <a:lnTo>
                  <a:pt x="0" y="9718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2820662" y="2735293"/>
            <a:ext cx="8246224" cy="5097779"/>
          </a:xfrm>
          <a:prstGeom prst="rect">
            <a:avLst/>
          </a:prstGeom>
        </p:spPr>
        <p:txBody>
          <a:bodyPr anchor="t" rtlCol="false" tIns="0" lIns="0" bIns="0" rIns="0">
            <a:spAutoFit/>
          </a:bodyPr>
          <a:lstStyle/>
          <a:p>
            <a:pPr algn="l">
              <a:lnSpc>
                <a:spcPts val="7919"/>
              </a:lnSpc>
            </a:pPr>
            <a:r>
              <a:rPr lang="en-US" sz="8799" spc="175">
                <a:solidFill>
                  <a:srgbClr val="004AAD"/>
                </a:solidFill>
                <a:latin typeface="GN- きんいろサンセリフ"/>
                <a:ea typeface="GN- きんいろサンセリフ"/>
                <a:cs typeface="GN- きんいろサンセリフ"/>
                <a:sym typeface="GN- きんいろサンセリフ"/>
              </a:rPr>
              <a:t>TERIMAKASIH TEMAN-TEMAN SEMUA, SENANG BERTEMU KALIAN SEMUA...</a:t>
            </a:r>
          </a:p>
        </p:txBody>
      </p:sp>
      <p:sp>
        <p:nvSpPr>
          <p:cNvPr name="Freeform 9" id="9"/>
          <p:cNvSpPr/>
          <p:nvPr/>
        </p:nvSpPr>
        <p:spPr>
          <a:xfrm flipH="false" flipV="false" rot="-6315782">
            <a:off x="16484406" y="5985615"/>
            <a:ext cx="1646258" cy="1583401"/>
          </a:xfrm>
          <a:custGeom>
            <a:avLst/>
            <a:gdLst/>
            <a:ahLst/>
            <a:cxnLst/>
            <a:rect r="r" b="b" t="t" l="l"/>
            <a:pathLst>
              <a:path h="1583401" w="1646258">
                <a:moveTo>
                  <a:pt x="0" y="0"/>
                </a:moveTo>
                <a:lnTo>
                  <a:pt x="1646258" y="0"/>
                </a:lnTo>
                <a:lnTo>
                  <a:pt x="1646258" y="1583401"/>
                </a:lnTo>
                <a:lnTo>
                  <a:pt x="0" y="1583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false" rot="0">
            <a:off x="11362194" y="2497168"/>
            <a:ext cx="5589204" cy="7789832"/>
          </a:xfrm>
          <a:custGeom>
            <a:avLst/>
            <a:gdLst/>
            <a:ahLst/>
            <a:cxnLst/>
            <a:rect r="r" b="b" t="t" l="l"/>
            <a:pathLst>
              <a:path h="7789832" w="5589204">
                <a:moveTo>
                  <a:pt x="5589204" y="0"/>
                </a:moveTo>
                <a:lnTo>
                  <a:pt x="0" y="0"/>
                </a:lnTo>
                <a:lnTo>
                  <a:pt x="0" y="7789832"/>
                </a:lnTo>
                <a:lnTo>
                  <a:pt x="5589204" y="7789832"/>
                </a:lnTo>
                <a:lnTo>
                  <a:pt x="5589204" y="0"/>
                </a:lnTo>
                <a:close/>
              </a:path>
            </a:pathLst>
          </a:custGeom>
          <a:blipFill>
            <a:blip r:embed="rId11"/>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DAGmAAvnnBM</dc:identifier>
  <dcterms:modified xsi:type="dcterms:W3CDTF">2011-08-01T06:04:30Z</dcterms:modified>
  <cp:revision>1</cp:revision>
  <dc:title>Biru Putih Ilustrasi Anime Presentasi Pengenalan Diri</dc:title>
</cp:coreProperties>
</file>